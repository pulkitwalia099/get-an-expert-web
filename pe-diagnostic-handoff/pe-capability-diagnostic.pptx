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tool spend</c:v>
                </c:pt>
              </c:strCache>
            </c:strRef>
          </c:tx>
          <c:spPr>
            <a:solidFill>
              <a:srgbClr val="2F4A38"/>
            </a:solidFill>
            <a:ln w="38100" cap="flat">
              <a:solidFill>
                <a:srgbClr val="2F4A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4A38"/>
              </a:solidFill>
              <a:ln w="9525" cap="flat">
                <a:solidFill>
                  <a:srgbClr val="2F4A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18</c:v>
                </c:pt>
                <c:pt idx="2">
                  <c:v>26</c:v>
                </c:pt>
                <c:pt idx="3">
                  <c:v>35</c:v>
                </c:pt>
                <c:pt idx="4">
                  <c:v>44</c:v>
                </c:pt>
                <c:pt idx="5">
                  <c:v>55</c:v>
                </c:pt>
                <c:pt idx="6">
                  <c:v>66</c:v>
                </c:pt>
                <c:pt idx="7">
                  <c:v>78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impact</c:v>
                </c:pt>
              </c:strCache>
            </c:strRef>
          </c:tx>
          <c:spPr>
            <a:solidFill>
              <a:srgbClr val="7A756A"/>
            </a:solidFill>
            <a:ln w="38100" cap="flat">
              <a:solidFill>
                <a:srgbClr val="7A75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756A"/>
              </a:solidFill>
              <a:ln w="9525" cap="flat">
                <a:solidFill>
                  <a:srgbClr val="7A75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5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F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5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1A16"/>
              </a:solidFill>
              <a:latin typeface="Hanken Grotesk"/>
              <a:cs typeface="Hanken Grotesk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 agent-authored, %</c:v>
                </c:pt>
              </c:strCache>
            </c:strRef>
          </c:tx>
          <c:spPr>
            <a:solidFill>
              <a:srgbClr val="2F4A38"/>
            </a:solidFill>
            <a:ln w="38100" cap="flat">
              <a:solidFill>
                <a:srgbClr val="2F4A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4A38"/>
              </a:solidFill>
              <a:ln w="9525" cap="flat">
                <a:solidFill>
                  <a:srgbClr val="2F4A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14</c:v>
                </c:pt>
                <c:pt idx="2">
                  <c:v>15</c:v>
                </c:pt>
                <c:pt idx="3">
                  <c:v>19</c:v>
                </c:pt>
                <c:pt idx="4">
                  <c:v>22</c:v>
                </c:pt>
                <c:pt idx="5">
                  <c:v>27</c:v>
                </c:pt>
                <c:pt idx="6">
                  <c:v>30</c:v>
                </c:pt>
                <c:pt idx="7">
                  <c:v>34</c:v>
                </c:pt>
                <c:pt idx="8">
                  <c:v>38</c:v>
                </c:pt>
                <c:pt idx="9">
                  <c:v>41</c:v>
                </c:pt>
                <c:pt idx="10">
                  <c:v>45</c:v>
                </c:pt>
                <c:pt idx="11">
                  <c:v>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hand edits on agent output, %</c:v>
                </c:pt>
              </c:strCache>
            </c:strRef>
          </c:tx>
          <c:spPr>
            <a:solidFill>
              <a:srgbClr val="8FB89B"/>
            </a:solidFill>
            <a:ln w="38100" cap="flat">
              <a:solidFill>
                <a:srgbClr val="8FB8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B89B"/>
              </a:solidFill>
              <a:ln w="9525" cap="flat">
                <a:solidFill>
                  <a:srgbClr val="8FB8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41</c:v>
                </c:pt>
                <c:pt idx="1">
                  <c:v>40</c:v>
                </c:pt>
                <c:pt idx="2">
                  <c:v>38</c:v>
                </c:pt>
                <c:pt idx="3">
                  <c:v>35</c:v>
                </c:pt>
                <c:pt idx="4">
                  <c:v>31</c:v>
                </c:pt>
                <c:pt idx="5">
                  <c:v>28</c:v>
                </c:pt>
                <c:pt idx="6">
                  <c:v>24</c:v>
                </c:pt>
                <c:pt idx="7">
                  <c:v>20</c:v>
                </c:pt>
                <c:pt idx="8">
                  <c:v>17</c:v>
                </c:pt>
                <c:pt idx="9">
                  <c:v>15</c:v>
                </c:pt>
                <c:pt idx="10">
                  <c:v>13</c:v>
                </c:pt>
                <c:pt idx="11">
                  <c:v>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A75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F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5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1A16"/>
              </a:solidFill>
              <a:latin typeface="Hanken Grotesk"/>
              <a:cs typeface="Hanken Grotesk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Laoh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portfolio bought AI.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i="1" dirty="0">
                <a:solidFill>
                  <a:srgbClr val="9CC5A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P&amp;L can't see 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4343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F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capability diagnostic for mid-market portcos - who can actually use AI, what's blocking them, and what to fix first.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Pulkit Walia  ·  Rohit Jain  ·  laoh.ai  ·  San Francisco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· THE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Licenses went out. Value didn't show up.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126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Deploy plateau</a:t>
            </a:r>
            <a:pPr indent="0" marL="0">
              <a:buNone/>
            </a:pPr>
            <a:r>
              <a:rPr lang="en-US" sz="12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- tools everywhere, operating model unchanged (BCG, 2026)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0866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IT LANDS IN YOUR PORTFOLIO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86600" y="1938528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0" y="2066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Trades roll-ups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0" y="23957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add-on is an integration bill. Team capability decides its size.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3310128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0" y="3438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Healthcare services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5200" y="37673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RCM gains are real - and only measured impact survives diligence (PwC).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86600" y="4681728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4809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Tech-enabled services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315200" y="51389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Margin is labor arithmetic. Capacity per head is the EBITDA line.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· THE BLIND SPOT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adoption report you've seen is noise.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8FB89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+20%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51560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much faster developers believed AI made them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-19%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6537960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much slower they actually were - randomized trial, 246 real tasks (METR, 2025)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9904" y="2057400"/>
            <a:ext cx="0" cy="2103120"/>
          </a:xfrm>
          <a:prstGeom prst="line">
            <a:avLst/>
          </a:prstGeom>
          <a:noFill/>
          <a:ln w="19050">
            <a:solidFill>
              <a:srgbClr val="E8D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can't survey your way to this number. You have to watch people work.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· THE SECOND BLOCKER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Skill is not the whole story. The org gates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794760" y="1645920"/>
            <a:ext cx="2926080" cy="2011680"/>
          </a:xfrm>
          <a:prstGeom prst="rect">
            <a:avLst/>
          </a:prstGeom>
          <a:solidFill>
            <a:srgbClr val="9CC5A5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45920"/>
            <a:ext cx="0" cy="4023360"/>
          </a:xfrm>
          <a:prstGeom prst="line">
            <a:avLst/>
          </a:prstGeom>
          <a:noFill/>
          <a:ln w="22225">
            <a:solidFill>
              <a:srgbClr val="1C1A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0"/>
            <a:ext cx="5852160" cy="0"/>
          </a:xfrm>
          <a:prstGeom prst="line">
            <a:avLst/>
          </a:prstGeom>
          <a:noFill/>
          <a:ln w="22225">
            <a:solidFill>
              <a:srgbClr val="1C1A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0" y="1645920"/>
            <a:ext cx="0" cy="4023360"/>
          </a:xfrm>
          <a:prstGeom prst="line">
            <a:avLst/>
          </a:prstGeom>
          <a:noFill/>
          <a:ln w="12700">
            <a:solidFill>
              <a:srgbClr val="E8DFC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8680" y="3657600"/>
            <a:ext cx="5852160" cy="0"/>
          </a:xfrm>
          <a:prstGeom prst="line">
            <a:avLst/>
          </a:prstGeom>
          <a:noFill/>
          <a:ln w="12700">
            <a:solidFill>
              <a:srgbClr val="E8DFC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6868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org readiness  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 rot="16200000">
            <a:off x="-1828800" y="35112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people capability  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71600" y="452628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480060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448056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1508760" y="416052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475488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1874520" y="406908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3160" y="443484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25880" y="402336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9" name="Shape 17"/>
          <p:cNvSpPr/>
          <p:nvPr/>
        </p:nvSpPr>
        <p:spPr>
          <a:xfrm>
            <a:off x="2240280" y="416052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466344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21" name="Shape 19"/>
          <p:cNvSpPr/>
          <p:nvPr/>
        </p:nvSpPr>
        <p:spPr>
          <a:xfrm>
            <a:off x="2606040" y="406908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3767328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193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most portcos today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3272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"AI-native hires,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nothing changed"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"platform ready,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nobody uses it"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212848"/>
            <a:ext cx="219456" cy="219456"/>
          </a:xfrm>
          <a:prstGeom prst="ellipse">
            <a:avLst/>
          </a:prstGeom>
          <a:solidFill>
            <a:srgbClr val="2F4A38"/>
          </a:solidFill>
          <a:ln w="19050">
            <a:solidFill>
              <a:srgbClr val="FAF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value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0920" y="1828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amplifies what's already there.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60920" y="2834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Google DORA, ~5,000 professionals: returns hinge on org capability - data, platforms, policy - not tool adoption.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0920" y="39776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 we score both. </a:t>
            </a:r>
            <a:pPr indent="0" marL="0">
              <a:buNone/>
            </a:pPr>
            <a:r>
              <a:rPr lang="en-US" sz="14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person on a six-level ladder. Every portco on a five-dimension readiness scorecard.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· THE INSTRUMENT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measure it. Live, in simulation.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852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simulation, not a survey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474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90-120 min observed work session, role-matched. Same method we use to screen FDEs for frontier labs - the sim is the job, nowhere to fake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7830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03120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852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 scores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Each person: a level, with evidence. Each portco: a readiness scorecard - what the org itself blocks.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75904" y="178308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68512" y="2103120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66851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68512" y="2852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sequence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68512" y="3474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100-day plan: what to fix first, people or infrastructure, function by function.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Measured impact survives diligence. Claims don't.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· WHAT YOU GET · THE SKILL REPORT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person gets a report like this.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01600" dist="38100" dir="5400000">
              <a:srgbClr val="1C1A1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A. Mehta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Integrations engineer · Portco A · assessed 12 Jun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1783080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7830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783080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7830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21424" y="1783080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1424" y="17830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34656" y="1783080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17830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783080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7830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1783080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7830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304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operates at L2</a:t>
            </a:r>
            <a:pPr indent="0" marL="0">
              <a:buNone/>
            </a:pPr>
            <a:r>
              <a:rPr lang="en-US" sz="11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- pairs with AI, still reviews every 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SCORED DIMENSIONS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30358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Delegation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06040" y="3086100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3086100"/>
            <a:ext cx="1700784" cy="182880"/>
          </a:xfrm>
          <a:prstGeom prst="roundRect">
            <a:avLst>
              <a:gd name="adj" fmla="val 25000"/>
            </a:avLst>
          </a:prstGeom>
          <a:solidFill>
            <a:srgbClr val="2F4A38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3035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3/5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502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Spec quality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06040" y="3552444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3552444"/>
            <a:ext cx="1133856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3502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2/5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" y="3968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06040" y="4018788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4018788"/>
            <a:ext cx="566928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3968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1/5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4400" y="4434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606040" y="4485132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4485132"/>
            <a:ext cx="1133856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4434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2/5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4400" y="49011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06040" y="4951476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4951476"/>
            <a:ext cx="566928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49011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1/5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14400" y="53675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Judgment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606040" y="5417820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6040" y="5417820"/>
            <a:ext cx="2267712" cy="182880"/>
          </a:xfrm>
          <a:prstGeom prst="roundRect">
            <a:avLst>
              <a:gd name="adj" fmla="val 25000"/>
            </a:avLst>
          </a:prstGeom>
          <a:solidFill>
            <a:srgbClr val="2F4A38"/>
          </a:solidFill>
          <a:ln/>
        </p:spPr>
      </p:sp>
      <p:sp>
        <p:nvSpPr>
          <p:cNvPr id="44" name="Text 42"/>
          <p:cNvSpPr/>
          <p:nvPr/>
        </p:nvSpPr>
        <p:spPr>
          <a:xfrm>
            <a:off x="5532120" y="53675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4/5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2084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SAW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303580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"hand-edited 40% of the agent's output"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720840" y="37490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"ran the code once and called it verified"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6720840" y="446227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"knew exactly when not to use the agent - strongest signal"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914400" y="5806440"/>
            <a:ext cx="10332720" cy="475488"/>
          </a:xfrm>
          <a:prstGeom prst="roundRect">
            <a:avLst>
              <a:gd name="adj" fmla="val 15385"/>
            </a:avLst>
          </a:prstGeom>
          <a:solidFill>
            <a:srgbClr val="9CC5A5">
              <a:alpha val="4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580644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path to L3:  </a:t>
            </a:r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 parallel sessions  ·  stop hand-editing output  ·  build the repo context file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· WHAT YOU GET · THE MONITORING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Then you watch it move.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82880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2F4A38"/>
          </a:solidFill>
          <a:ln/>
        </p:spPr>
      </p:sp>
      <p:sp>
        <p:nvSpPr>
          <p:cNvPr id="6" name="Text 3"/>
          <p:cNvSpPr/>
          <p:nvPr/>
        </p:nvSpPr>
        <p:spPr>
          <a:xfrm>
            <a:off x="489204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 → L3 · week 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06640" y="169164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801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41% → 12%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68096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hand edits on agent output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2990088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30998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 → 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680960" y="3648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repo context files maintained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4288536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43982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→ 2.4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680960" y="4946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parallel agent sessions, avg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Telemetry corroborates. The quarterly simulation confirms. Both numbers go to your IC.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· WHY 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We've watched deployment fail from the other side.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93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Frontier labs deploy FDEs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4871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into companies like your portcos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5072" y="22860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26280" y="1783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993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Deployment lands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82312" y="24871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absorption doesn't - and nobody on that side is paid to fix 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82712" y="22860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03920" y="178308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59952" y="1993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assess the absorbers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759952" y="24871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instrument, pointed at your teams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screen forward deployed engineers for  </a:t>
            </a:r>
            <a:pPr algn="ctr" indent="0" marL="0">
              <a:buNone/>
            </a:pPr>
            <a:r>
              <a:rPr lang="en-US" sz="15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ElevenLabs · Retell · +3 YC-backed AI cos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54480" y="4434840"/>
            <a:ext cx="4343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45902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$0 → $3B IPO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509320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assessment + skilling systems behind Urban Company - built in exactly your sectors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28800" y="5760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Pulkit Walia · HBS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4434840"/>
            <a:ext cx="4343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5902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25,000+ engineers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83680" y="509320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trained for big-tech loops · hundreds of interviews run from the other side of the table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5760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Rohit Jain · Amazon, Square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· START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Start with one portco. $1,000 a seat.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27402F"/>
          </a:solidFill>
          <a:ln w="9525">
            <a:solidFill>
              <a:srgbClr val="8FB8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4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2-3 weeks, one portco, remote or on site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0723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4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level map by function - with evidence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6941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4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org readiness scorecard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315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4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sequenced 100-day fix-first plan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THEN, IF IT EARNS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9CC5A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4505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portco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903720" y="3364992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8FB89B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3649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portfolio dashboard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406640" y="4279392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FAF7F0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42793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upskilling / deal diligence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30 mins to scope it - no sales, we'll just show you the instrument.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Pulkit Walia  ·  laoh.ai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2026-07-16T05:35:45Z</dcterms:created>
  <dcterms:modified xsi:type="dcterms:W3CDTF">2026-07-16T05:35:45Z</dcterms:modified>
</cp:coreProperties>
</file>