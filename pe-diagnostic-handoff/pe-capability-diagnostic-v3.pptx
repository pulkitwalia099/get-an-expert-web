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per token</c:v>
                </c:pt>
              </c:strCache>
            </c:strRef>
          </c:tx>
          <c:spPr>
            <a:solidFill>
              <a:srgbClr val="7A756A"/>
            </a:solidFill>
            <a:ln w="38100" cap="flat">
              <a:solidFill>
                <a:srgbClr val="7A756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7A756A"/>
              </a:solidFill>
              <a:ln w="9525" cap="flat">
                <a:solidFill>
                  <a:srgbClr val="7A756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L2</c:v>
                  </c:pt>
                  <c:pt idx="1">
                    <c:v>L3</c:v>
                  </c:pt>
                  <c:pt idx="2">
                    <c:v>L4</c:v>
                  </c:pt>
                  <c:pt idx="3">
                    <c:v>L5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value per token</c:v>
                </c:pt>
              </c:strCache>
            </c:strRef>
          </c:tx>
          <c:spPr>
            <a:solidFill>
              <a:srgbClr val="2F4A38"/>
            </a:solidFill>
            <a:ln w="38100" cap="flat">
              <a:solidFill>
                <a:srgbClr val="2F4A3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2F4A38"/>
              </a:solidFill>
              <a:ln w="9525" cap="flat">
                <a:solidFill>
                  <a:srgbClr val="2F4A3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L2</c:v>
                  </c:pt>
                  <c:pt idx="1">
                    <c:v>L3</c:v>
                  </c:pt>
                  <c:pt idx="2">
                    <c:v>L4</c:v>
                  </c:pt>
                  <c:pt idx="3">
                    <c:v>L5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100</c:v>
                </c:pt>
                <c:pt idx="1">
                  <c:v>220</c:v>
                </c:pt>
                <c:pt idx="2">
                  <c:v>340</c:v>
                </c:pt>
                <c:pt idx="3">
                  <c:v>480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C1A16"/>
                </a:solidFill>
                <a:latin typeface="Hanken Grotesk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C1A16"/>
              </a:solidFill>
              <a:latin typeface="Hanken Grotesk"/>
              <a:cs typeface="Hanken Grotesk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4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AF7F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Laoh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10881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400" dirty="0">
                <a:solidFill>
                  <a:srgbClr val="FAF7F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Your portfolio bought AI.</a:t>
            </a:r>
            <a:endParaRPr lang="en-US" sz="5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400" i="1" dirty="0">
                <a:solidFill>
                  <a:srgbClr val="9CC5A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The P&amp;L can't see it.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58368" y="420624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DFC9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capability diagnostic for the engineering teams inside your portcos - who can actually use AI, what's blocking them, what to fix first.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58368" y="525780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C5A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From the team that screens forward-deployed engineers for a frontier AI lab, a vertical AI company, and 3 YC-backed AI cos.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8368" y="6172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89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Pulkit Walia  ·  Rohit Jain  ·  laoh.ai  ·  San Francisco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2F4A3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01 · WHY NOW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dirty="0">
                <a:solidFill>
                  <a:srgbClr val="1C1A1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AI impact has moved from story to diligence requirement.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914400" y="3063240"/>
            <a:ext cx="10332720" cy="0"/>
          </a:xfrm>
          <a:prstGeom prst="line">
            <a:avLst/>
          </a:prstGeom>
          <a:noFill/>
          <a:ln w="25400">
            <a:solidFill>
              <a:srgbClr val="E8DF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9304" y="2980944"/>
            <a:ext cx="164592" cy="164592"/>
          </a:xfrm>
          <a:prstGeom prst="ellipse">
            <a:avLst/>
          </a:prstGeom>
          <a:solidFill>
            <a:srgbClr val="7A756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2377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A756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2023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3264408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copilot licenses roll out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712464" y="2980944"/>
            <a:ext cx="164592" cy="164592"/>
          </a:xfrm>
          <a:prstGeom prst="ellipse">
            <a:avLst/>
          </a:prstGeom>
          <a:solidFill>
            <a:srgbClr val="7A756A"/>
          </a:solidFill>
          <a:ln/>
        </p:spPr>
      </p:sp>
      <p:sp>
        <p:nvSpPr>
          <p:cNvPr id="9" name="Text 7"/>
          <p:cNvSpPr/>
          <p:nvPr/>
        </p:nvSpPr>
        <p:spPr>
          <a:xfrm>
            <a:off x="2788920" y="2377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A756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2024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697480" y="3264408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pilots everywhere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35624" y="2980944"/>
            <a:ext cx="164592" cy="164592"/>
          </a:xfrm>
          <a:prstGeom prst="ellipse">
            <a:avLst/>
          </a:prstGeom>
          <a:solidFill>
            <a:srgbClr val="7A756A"/>
          </a:solidFill>
          <a:ln/>
        </p:spPr>
      </p:sp>
      <p:sp>
        <p:nvSpPr>
          <p:cNvPr id="12" name="Text 10"/>
          <p:cNvSpPr/>
          <p:nvPr/>
        </p:nvSpPr>
        <p:spPr>
          <a:xfrm>
            <a:off x="5212080" y="2377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A756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2025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120640" y="3264408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‘AI-native’ hires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290304" y="2889504"/>
            <a:ext cx="347472" cy="347472"/>
          </a:xfrm>
          <a:prstGeom prst="ellipse">
            <a:avLst/>
          </a:prstGeom>
          <a:solidFill>
            <a:srgbClr val="2F4A38"/>
          </a:solidFill>
          <a:ln w="25400">
            <a:solidFill>
              <a:srgbClr val="FAF7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75320" y="22585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F4A3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2026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7863840" y="3319272"/>
            <a:ext cx="32004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8DFC9"/>
            </a:solidFill>
            <a:prstDash val="solid"/>
          </a:ln>
          <a:effectLst>
            <a:outerShdw sx="100000" sy="100000" kx="0" ky="0" algn="bl" rotWithShape="0" blurRad="76200" dist="25400" dir="5400000">
              <a:srgbClr val="1C1A16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092440" y="342900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F4A3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buyers ask for measured impact in diligence</a:t>
            </a:r>
            <a:endParaRPr lang="en-US" sz="12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PwC, 2026 deals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846320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8DFC9"/>
            </a:solidFill>
            <a:prstDash val="solid"/>
          </a:ln>
          <a:effectLst>
            <a:outerShdw sx="100000" sy="100000" kx="0" ky="0" algn="bl" rotWithShape="0" blurRad="967740000" dist="322580000" dir="324000000000">
              <a:srgbClr val="1C1A16">
                <a:alpha val="80000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68680" y="504748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4A3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AI license spend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868680" y="56692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up and to the right since 2023 - copilot seats, agent tools, pilots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63640" y="4846320"/>
            <a:ext cx="5376672" cy="1417320"/>
          </a:xfrm>
          <a:prstGeom prst="roundRect">
            <a:avLst>
              <a:gd name="adj" fmla="val 6452"/>
            </a:avLst>
          </a:prstGeom>
          <a:solidFill>
            <a:srgbClr val="2F4A38"/>
          </a:solidFill>
          <a:ln/>
          <a:effectLst>
            <a:outerShdw sx="100000" sy="100000" kx="0" ky="0" algn="bl" rotWithShape="0" blurRad="12290298000000" dist="4096766000000" dir="19440000000000000">
              <a:srgbClr val="1C1A16">
                <a:alpha val="8000000000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583680" y="504748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AF7F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EBITDA impact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583680" y="56692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C5A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question everyone is asking - in every board meeting, and now in every sale process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5671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2F4A3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02 · THE LEVELS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dirty="0">
                <a:solidFill>
                  <a:srgbClr val="1C1A1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Engineering teams sit at five distinct levels of AI capability.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2560320" y="14447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WHAT IT IS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257800" y="144475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WHAT YOU'D SEE THEM DOING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778240" y="1444752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WHAT COMES OUT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755648"/>
            <a:ext cx="11091672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E8DFC9"/>
            </a:solidFill>
            <a:prstDash val="solid"/>
          </a:ln>
          <a:effectLst>
            <a:outerShdw sx="100000" sy="100000" kx="0" ky="0" algn="bl" rotWithShape="0" blurRad="156086784600000000" dist="52028928200000000" dir="1.1664e+21">
              <a:srgbClr val="1C1A16">
                <a:alpha val="800000000000000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85800" y="1865376"/>
            <a:ext cx="1691640" cy="402336"/>
          </a:xfrm>
          <a:prstGeom prst="roundRect">
            <a:avLst>
              <a:gd name="adj" fmla="val 13636"/>
            </a:avLst>
          </a:prstGeom>
          <a:solidFill>
            <a:srgbClr val="F7F3E9"/>
          </a:solidFill>
          <a:ln w="12700">
            <a:solidFill>
              <a:srgbClr val="E8DF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1865376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L1  </a:t>
            </a:r>
            <a:pPr indent="0" marL="0">
              <a:buNone/>
            </a:pPr>
            <a:r>
              <a:rPr lang="en-US" sz="1050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chat-window operator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60320" y="1755648"/>
            <a:ext cx="2423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AI as a better search box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257800" y="1755648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pastes questions into a chat window; no repo context; accepts answers on vibes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778240" y="1755648"/>
            <a:ext cx="2770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snippets; the same work, slightly faster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578608"/>
            <a:ext cx="11091672" cy="960120"/>
          </a:xfrm>
          <a:prstGeom prst="roundRect">
            <a:avLst>
              <a:gd name="adj" fmla="val 9524"/>
            </a:avLst>
          </a:prstGeom>
          <a:solidFill>
            <a:srgbClr val="F7F3E9"/>
          </a:solidFill>
          <a:ln w="19050">
            <a:solidFill>
              <a:srgbClr val="8FB89B"/>
            </a:solidFill>
            <a:prstDash val="solid"/>
          </a:ln>
          <a:effectLst>
            <a:outerShdw sx="100000" sy="100000" kx="0" ky="0" algn="bl" rotWithShape="0" blurRad="1.98230216442e+21" dist="660767388140000000000" dir="6.9984e+25">
              <a:srgbClr val="1C1A16">
                <a:alpha val="8e+23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85800" y="2688336"/>
            <a:ext cx="1691640" cy="402336"/>
          </a:xfrm>
          <a:prstGeom prst="roundRect">
            <a:avLst>
              <a:gd name="adj" fmla="val 13636"/>
            </a:avLst>
          </a:prstGeom>
          <a:solidFill>
            <a:srgbClr val="9CC5A5"/>
          </a:solidFill>
          <a:ln/>
        </p:spPr>
      </p:sp>
      <p:sp>
        <p:nvSpPr>
          <p:cNvPr id="15" name="Text 13"/>
          <p:cNvSpPr/>
          <p:nvPr/>
        </p:nvSpPr>
        <p:spPr>
          <a:xfrm>
            <a:off x="795528" y="2688336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L2  </a:t>
            </a:r>
            <a:pPr indent="0" marL="0">
              <a:buNone/>
            </a:pPr>
            <a:r>
              <a:rPr lang="en-US" sz="1050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agent-native, context-naive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60320" y="2633472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agent tools driven like a chat window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57800" y="2633472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one-shot prompts in Cursor or Claude Code; no instructions file; doesn't read the diff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778240" y="2633472"/>
            <a:ext cx="2770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unreviewed output piles up; feels fast, ships slop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560320" y="320040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2F4A3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trap - the tools look advanced, so it feels like mastery; most self-described AI-native engineers are here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611880"/>
            <a:ext cx="11091672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E8DFC9"/>
            </a:solidFill>
            <a:prstDash val="solid"/>
          </a:ln>
          <a:effectLst>
            <a:outerShdw sx="100000" sy="100000" kx="0" ky="0" algn="bl" rotWithShape="0" blurRad="2.5175237488134e+25" dist="8.391745829378e+24" dir="4.19904e+30">
              <a:srgbClr val="1C1A16">
                <a:alpha val="8e+28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5800" y="3721608"/>
            <a:ext cx="1691640" cy="402336"/>
          </a:xfrm>
          <a:prstGeom prst="roundRect">
            <a:avLst>
              <a:gd name="adj" fmla="val 13636"/>
            </a:avLst>
          </a:prstGeom>
          <a:solidFill>
            <a:srgbClr val="8FB89B"/>
          </a:solidFill>
          <a:ln/>
        </p:spPr>
      </p:sp>
      <p:sp>
        <p:nvSpPr>
          <p:cNvPr id="22" name="Text 20"/>
          <p:cNvSpPr/>
          <p:nvPr/>
        </p:nvSpPr>
        <p:spPr>
          <a:xfrm>
            <a:off x="795528" y="3721608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L3  </a:t>
            </a:r>
            <a:pPr indent="0" marL="0">
              <a:buNone/>
            </a:pPr>
            <a:r>
              <a:rPr lang="en-US" sz="1050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context engineer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560320" y="3611880"/>
            <a:ext cx="2423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supplies context on purpose - the dividing line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57800" y="3611880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keeps a persistent instructions file; picks the right files, conventions and constraints; writes a spec before prompting; reviews the output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778240" y="3611880"/>
            <a:ext cx="2770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agent starts right; real gains begin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4434840"/>
            <a:ext cx="11091672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E8DFC9"/>
            </a:solidFill>
            <a:prstDash val="solid"/>
          </a:ln>
          <a:effectLst>
            <a:outerShdw sx="100000" sy="100000" kx="0" ky="0" algn="bl" rotWithShape="0" blurRad="3.197255160993018e+29" dist="1.0657517203310059e+29" dir="2.519424e+35">
              <a:srgbClr val="1C1A16">
                <a:alpha val="8e+33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85800" y="4544568"/>
            <a:ext cx="1691640" cy="402336"/>
          </a:xfrm>
          <a:prstGeom prst="roundRect">
            <a:avLst>
              <a:gd name="adj" fmla="val 13636"/>
            </a:avLst>
          </a:prstGeom>
          <a:solidFill>
            <a:srgbClr val="2F4A38"/>
          </a:solidFill>
          <a:ln/>
        </p:spPr>
      </p:sp>
      <p:sp>
        <p:nvSpPr>
          <p:cNvPr id="28" name="Text 26"/>
          <p:cNvSpPr/>
          <p:nvPr/>
        </p:nvSpPr>
        <p:spPr>
          <a:xfrm>
            <a:off x="795528" y="4544568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F7F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L4  </a:t>
            </a:r>
            <a:pPr indent="0" marL="0">
              <a:buNone/>
            </a:pPr>
            <a:r>
              <a:rPr lang="en-US" sz="1050" dirty="0">
                <a:solidFill>
                  <a:srgbClr val="FAF7F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high-context + verified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560320" y="4434840"/>
            <a:ext cx="2423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rich context plus a hard oracle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257800" y="4434840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adds screenshots, diagrams and worked examples instead of prose; writes tests first so passing is proof; reads every diff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778240" y="4434840"/>
            <a:ext cx="2770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verified changes at speed; quality stops depending on judgment calls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" y="5257800"/>
            <a:ext cx="11091672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E8DFC9"/>
            </a:solidFill>
            <a:prstDash val="solid"/>
          </a:ln>
          <a:effectLst>
            <a:outerShdw sx="100000" sy="100000" kx="0" ky="0" algn="bl" rotWithShape="0" blurRad="4.0605140544611325e+33" dist="1.3535046848203775e+33" dir="1.5116544e+40">
              <a:srgbClr val="1C1A16">
                <a:alpha val="8e+38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85800" y="5367528"/>
            <a:ext cx="1691640" cy="402336"/>
          </a:xfrm>
          <a:prstGeom prst="roundRect">
            <a:avLst>
              <a:gd name="adj" fmla="val 13636"/>
            </a:avLst>
          </a:prstGeom>
          <a:solidFill>
            <a:srgbClr val="27402F"/>
          </a:solidFill>
          <a:ln/>
        </p:spPr>
      </p:sp>
      <p:sp>
        <p:nvSpPr>
          <p:cNvPr id="34" name="Text 32"/>
          <p:cNvSpPr/>
          <p:nvPr/>
        </p:nvSpPr>
        <p:spPr>
          <a:xfrm>
            <a:off x="795528" y="5367528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F7F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L5  </a:t>
            </a:r>
            <a:pPr indent="0" marL="0">
              <a:buNone/>
            </a:pPr>
            <a:r>
              <a:rPr lang="en-US" sz="1050" dirty="0">
                <a:solidFill>
                  <a:srgbClr val="FAF7F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fan-out + refusal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560320" y="5257800"/>
            <a:ext cx="2423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parallel agents, deliberate limits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257800" y="5257800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decomposes work and fans it out to parallel agents - safe because verification is automated; has found where AI is negative and stopped using it there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778240" y="5257800"/>
            <a:ext cx="2770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several verified workstreams per person; judgment becomes the output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48640" y="61996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F4A3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Every level is claimed in interviews. Each one is verifiable only by watching the work - which is the diagnostic.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15671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2F4A3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03 · THE ECONOMICS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dirty="0">
                <a:solidFill>
                  <a:srgbClr val="1C1A1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 team at L5 ships several times the output of the same team at L2.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2286000" y="148132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WHAT GOES IN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394960" y="148132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WHAT HAPPENS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686800" y="14813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WHAT COMES OUT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11091672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8DFC9"/>
            </a:solidFill>
            <a:prstDash val="solid"/>
          </a:ln>
          <a:effectLst>
            <a:outerShdw sx="100000" sy="100000" kx="0" ky="0" algn="bl" rotWithShape="0" blurRad="5.156852849165638e+37" dist="1.7189509497218795e+37" dir="9.069926400000001e+44">
              <a:srgbClr val="1C1A16">
                <a:alpha val="8e+43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1828800"/>
            <a:ext cx="10058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4A3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L2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286000" y="1920240"/>
            <a:ext cx="2697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one-shot prompts into an agent tool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94960" y="1920240"/>
            <a:ext cx="2880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no context supplied, no spec, diffs land unread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0" y="1920240"/>
            <a:ext cx="28163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feels fast; slop and rework eat the gain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944368"/>
            <a:ext cx="11091672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8DFC9"/>
            </a:solidFill>
            <a:prstDash val="solid"/>
          </a:ln>
          <a:effectLst>
            <a:outerShdw sx="100000" sy="100000" kx="0" ky="0" algn="bl" rotWithShape="0" blurRad="6.549203118440361e+41" dist="2.183067706146787e+41" dir="5.44195584e+49">
              <a:srgbClr val="1C1A16">
                <a:alpha val="8e+48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2944368"/>
            <a:ext cx="10058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4A3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L3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286000" y="3035808"/>
            <a:ext cx="2697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spec and deliberately chosen context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94960" y="3035808"/>
            <a:ext cx="2880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agent starts right; the person reviews every output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86800" y="3035808"/>
            <a:ext cx="28163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dividing line - real gains begin, one stream at a time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059936"/>
            <a:ext cx="11091672" cy="987552"/>
          </a:xfrm>
          <a:prstGeom prst="roundRect">
            <a:avLst>
              <a:gd name="adj" fmla="val 9259"/>
            </a:avLst>
          </a:prstGeom>
          <a:solidFill>
            <a:srgbClr val="2F4A38"/>
          </a:solidFill>
          <a:ln/>
          <a:effectLst>
            <a:outerShdw sx="100000" sy="100000" kx="0" ky="0" algn="bl" rotWithShape="0" blurRad="8.317487960419258e+45" dist="2.7724959868064195e+45" dir="3.2651735040000005e+54">
              <a:srgbClr val="1C1A16">
                <a:alpha val="8e+53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77240" y="4059936"/>
            <a:ext cx="10058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AF7F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L5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2286000" y="4151376"/>
            <a:ext cx="2697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7F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decomposed tasks fanned out to parallel agents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94960" y="4151376"/>
            <a:ext cx="2880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7F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tests-first verification gates every change; AI kept off tasks where it's negative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686800" y="4151376"/>
            <a:ext cx="28163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7F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several verified workstreams per person; cycle time collapses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5349240"/>
            <a:ext cx="11091672" cy="713232"/>
          </a:xfrm>
          <a:prstGeom prst="roundRect">
            <a:avLst>
              <a:gd name="adj" fmla="val 10256"/>
            </a:avLst>
          </a:prstGeom>
          <a:solidFill>
            <a:srgbClr val="F7F3E9"/>
          </a:solidFill>
          <a:ln w="12700">
            <a:solidFill>
              <a:srgbClr val="E8DFC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5349240"/>
            <a:ext cx="10469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4A3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Why the order matters.  </a:t>
            </a:r>
            <a:pPr indent="0" marL="0">
              <a:buNone/>
            </a:pPr>
            <a:r>
              <a:rPr lang="en-US" sz="1150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L5 fan-out is only safe because L4 verification is automated - parallel agents without tests-first just multiply unreviewed diffs.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F4A3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Capacity per head and cycle time are the lines a value-creation plan is priced on.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5671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2F4A3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04 · THE METHOD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1C1A1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Two disciplines move a team up the ladder -</a:t>
            </a:r>
            <a:endParaRPr lang="en-US" sz="3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1C1A1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checkpoints and context engineering.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9496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9050">
            <a:solidFill>
              <a:srgbClr val="2F4A38"/>
            </a:solidFill>
            <a:prstDash val="solid"/>
          </a:ln>
          <a:effectLst>
            <a:outerShdw sx="100000" sy="100000" kx="0" ky="0" algn="bl" rotWithShape="0" blurRad="1.0563209709732457e+50" dist="3.5210699032441527e+49" dir="1.9591041024000004e+59">
              <a:srgbClr val="1C1A16">
                <a:alpha val="8e+58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05740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F4A3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CHECKPOINT-DRIVEN DEVELOPMENT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60120" y="2724912"/>
            <a:ext cx="3291840" cy="0"/>
          </a:xfrm>
          <a:prstGeom prst="line">
            <a:avLst/>
          </a:prstGeom>
          <a:noFill/>
          <a:ln w="15875">
            <a:solidFill>
              <a:srgbClr val="E8DFC9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 flipV="1">
            <a:off x="960120" y="2304288"/>
            <a:ext cx="3474720" cy="420624"/>
          </a:xfrm>
          <a:prstGeom prst="line">
            <a:avLst/>
          </a:prstGeom>
          <a:noFill/>
          <a:ln w="22225">
            <a:solidFill>
              <a:srgbClr val="1C1A1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2642616"/>
            <a:ext cx="164592" cy="164592"/>
          </a:xfrm>
          <a:prstGeom prst="ellipse">
            <a:avLst/>
          </a:prstGeom>
          <a:solidFill>
            <a:srgbClr val="1C1A16"/>
          </a:solidFill>
          <a:ln/>
        </p:spPr>
      </p:sp>
      <p:sp>
        <p:nvSpPr>
          <p:cNvPr id="9" name="Shape 7"/>
          <p:cNvSpPr/>
          <p:nvPr/>
        </p:nvSpPr>
        <p:spPr>
          <a:xfrm>
            <a:off x="4224528" y="2542032"/>
            <a:ext cx="365760" cy="365760"/>
          </a:xfrm>
          <a:prstGeom prst="ellipse">
            <a:avLst/>
          </a:prstGeom>
          <a:solidFill>
            <a:srgbClr val="FAF7F0"/>
          </a:solidFill>
          <a:ln w="15875">
            <a:solidFill>
              <a:srgbClr val="2F4A3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34256" y="2651760"/>
            <a:ext cx="146304" cy="146304"/>
          </a:xfrm>
          <a:prstGeom prst="ellipse">
            <a:avLst/>
          </a:prstGeom>
          <a:solidFill>
            <a:srgbClr val="2F4A38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2331720"/>
            <a:ext cx="1143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one-shot - the L2 way; a wide miss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 flipV="1">
            <a:off x="960120" y="3383280"/>
            <a:ext cx="822960" cy="137160"/>
          </a:xfrm>
          <a:prstGeom prst="line">
            <a:avLst/>
          </a:prstGeom>
          <a:noFill/>
          <a:ln w="22225">
            <a:solidFill>
              <a:srgbClr val="2F4A3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83080" y="3383280"/>
            <a:ext cx="822960" cy="256032"/>
          </a:xfrm>
          <a:prstGeom prst="line">
            <a:avLst/>
          </a:prstGeom>
          <a:noFill/>
          <a:ln w="22225">
            <a:solidFill>
              <a:srgbClr val="2F4A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2606040" y="3456432"/>
            <a:ext cx="822960" cy="182880"/>
          </a:xfrm>
          <a:prstGeom prst="line">
            <a:avLst/>
          </a:prstGeom>
          <a:noFill/>
          <a:ln w="22225">
            <a:solidFill>
              <a:srgbClr val="2F4A3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29000" y="3456432"/>
            <a:ext cx="868680" cy="64008"/>
          </a:xfrm>
          <a:prstGeom prst="line">
            <a:avLst/>
          </a:prstGeom>
          <a:noFill/>
          <a:ln w="22225">
            <a:solidFill>
              <a:srgbClr val="2F4A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" y="3438144"/>
            <a:ext cx="164592" cy="164592"/>
          </a:xfrm>
          <a:prstGeom prst="ellipse">
            <a:avLst/>
          </a:prstGeom>
          <a:solidFill>
            <a:srgbClr val="1C1A16"/>
          </a:solidFill>
          <a:ln/>
        </p:spPr>
      </p:sp>
      <p:sp>
        <p:nvSpPr>
          <p:cNvPr id="17" name="Shape 15"/>
          <p:cNvSpPr/>
          <p:nvPr/>
        </p:nvSpPr>
        <p:spPr>
          <a:xfrm>
            <a:off x="1709928" y="3310128"/>
            <a:ext cx="146304" cy="146304"/>
          </a:xfrm>
          <a:prstGeom prst="ellipse">
            <a:avLst/>
          </a:prstGeom>
          <a:solidFill>
            <a:srgbClr val="8FB89B"/>
          </a:solidFill>
          <a:ln w="12700">
            <a:solidFill>
              <a:srgbClr val="2F4A3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32888" y="3566160"/>
            <a:ext cx="146304" cy="146304"/>
          </a:xfrm>
          <a:prstGeom prst="ellipse">
            <a:avLst/>
          </a:prstGeom>
          <a:solidFill>
            <a:srgbClr val="8FB89B"/>
          </a:solidFill>
          <a:ln w="12700">
            <a:solidFill>
              <a:srgbClr val="2F4A3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55848" y="3383280"/>
            <a:ext cx="146304" cy="146304"/>
          </a:xfrm>
          <a:prstGeom prst="ellipse">
            <a:avLst/>
          </a:prstGeom>
          <a:solidFill>
            <a:srgbClr val="8FB89B"/>
          </a:solidFill>
          <a:ln w="12700">
            <a:solidFill>
              <a:srgbClr val="2F4A3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24528" y="3337560"/>
            <a:ext cx="365760" cy="365760"/>
          </a:xfrm>
          <a:prstGeom prst="ellipse">
            <a:avLst/>
          </a:prstGeom>
          <a:solidFill>
            <a:srgbClr val="FAF7F0"/>
          </a:solidFill>
          <a:ln w="15875">
            <a:solidFill>
              <a:srgbClr val="2F4A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34256" y="3447288"/>
            <a:ext cx="146304" cy="146304"/>
          </a:xfrm>
          <a:prstGeom prst="ellipse">
            <a:avLst/>
          </a:prstGeom>
          <a:solidFill>
            <a:srgbClr val="2F4A38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3200400"/>
            <a:ext cx="1143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F4A3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checkpointed - the L4 way; hits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68680" y="3950208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Plan meticulously. Read what the AI built at every gate, correct, move. Feels slower - ships several times faster, without the slop.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63640" y="1874520"/>
            <a:ext cx="5376672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9050">
            <a:solidFill>
              <a:srgbClr val="2F4A38"/>
            </a:solidFill>
            <a:prstDash val="solid"/>
          </a:ln>
          <a:effectLst>
            <a:outerShdw sx="100000" sy="100000" kx="0" ky="0" algn="bl" rotWithShape="0" blurRad="1.341527633136022e+54" dist="4.471758777120074e+53" dir="1.1754624614400003e+64">
              <a:srgbClr val="1C1A16">
                <a:alpha val="7.999999999999999e+63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83680" y="205740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F4A3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CONTEXT ENGINEERING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583680" y="251460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F7F3E9"/>
          </a:solidFill>
          <a:ln w="12700">
            <a:solidFill>
              <a:srgbClr val="E8DFC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0" y="25146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4A3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instructions file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065008" y="2514600"/>
            <a:ext cx="329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→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8412480" y="2514600"/>
            <a:ext cx="1325880" cy="502920"/>
          </a:xfrm>
          <a:prstGeom prst="roundRect">
            <a:avLst>
              <a:gd name="adj" fmla="val 14545"/>
            </a:avLst>
          </a:prstGeom>
          <a:solidFill>
            <a:srgbClr val="F7F3E9"/>
          </a:solidFill>
          <a:ln w="12700">
            <a:solidFill>
              <a:srgbClr val="E8DFC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0" y="251460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4A3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right files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756648" y="2514600"/>
            <a:ext cx="329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→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10104120" y="251460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2F4A38"/>
          </a:solidFill>
          <a:ln/>
        </p:spPr>
      </p:sp>
      <p:sp>
        <p:nvSpPr>
          <p:cNvPr id="33" name="Text 31"/>
          <p:cNvSpPr/>
          <p:nvPr/>
        </p:nvSpPr>
        <p:spPr>
          <a:xfrm>
            <a:off x="10104120" y="25146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AF7F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spec first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583680" y="31272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context supplied on purpose, every time - the L3 dividing line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583680" y="352044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dumped context degrades the model with every turn. Choosing it deliberately - conventions, constraints, the files that matter - is the L3 dividing line. Screenshots, worked examples and tests-first make it L4.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475488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F7F3E9"/>
          </a:solidFill>
          <a:ln w="12700">
            <a:solidFill>
              <a:srgbClr val="E8DFC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68680" y="4864608"/>
            <a:ext cx="10469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2F4A3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Simple to learn, real only when applied.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Like sales or leadership, courses alone get you a tenth of the way - these skills are built inside the live workflow, or not at all.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2F4A3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And skip the hype.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“Loop engineering”, “Ralph loops”, fully autonomous everything - influencer content, counterproductive for enterprise production code. Engineers inside frontier labs don't build this way.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15671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2F4A3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05 · THE VISIBILITY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dirty="0">
                <a:solidFill>
                  <a:srgbClr val="1C1A1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Value per token rises with every level your people climb.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50" kern="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WHAT WE WATCH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205740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Where each person applied the disciplines - and where they didn't. Task by task: did a plan and checkpoints exist, was the work reviewed at each gate, was context engineered or dumped.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429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50" kern="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WHAT THAT SHOWS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379476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Exactly where the productivity gap sits, person by person - the tasks where a discipline should have been applied and wasn't. That visibility alone shows where value per token is leaking.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035040" y="1691640"/>
            <a:ext cx="5605272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8DFC9"/>
            </a:solidFill>
            <a:prstDash val="solid"/>
          </a:ln>
          <a:effectLst>
            <a:outerShdw sx="100000" sy="100000" kx="0" ky="0" algn="bl" rotWithShape="0" blurRad="1.7037400940827478e+58" dist="5.679133646942494e+57" dir="7.052774768640002e+68">
              <a:srgbClr val="1C1A16">
                <a:alpha val="7.999999999999999e+68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355080" y="1847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50" kern="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ILLUSTRATIVE</a:t>
            </a:r>
            <a:endParaRPr lang="en-US" sz="85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6355080" y="2148840"/>
          <a:ext cx="4983480" cy="2971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8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2F4A3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So we hand you exactly that - a scorecard for every person, and the map for every team.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15671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2F4A3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06 · THE MEASUREMENT PROBLEM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dirty="0">
                <a:solidFill>
                  <a:srgbClr val="1C1A1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Developers misjudge their own AI productivity by about 40 points.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dirty="0">
                <a:solidFill>
                  <a:srgbClr val="8FB89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+20%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1051560" y="374904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how much faster developers believed AI made them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309360" y="178308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dirty="0">
                <a:solidFill>
                  <a:srgbClr val="1C1A1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-19%</a:t>
            </a:r>
            <a:endParaRPr lang="en-US" sz="12000" dirty="0"/>
          </a:p>
        </p:txBody>
      </p:sp>
      <p:sp>
        <p:nvSpPr>
          <p:cNvPr id="7" name="Text 5"/>
          <p:cNvSpPr/>
          <p:nvPr/>
        </p:nvSpPr>
        <p:spPr>
          <a:xfrm>
            <a:off x="6537960" y="374904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how much slower they actually were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089904" y="2103120"/>
            <a:ext cx="0" cy="2103120"/>
          </a:xfrm>
          <a:prstGeom prst="line">
            <a:avLst/>
          </a:prstGeom>
          <a:noFill/>
          <a:ln w="19050">
            <a:solidFill>
              <a:srgbClr val="E8DF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7091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Randomized trial, 246 real tasks (METR, 2025)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188720" y="534924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2F4A3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Every adoption survey in your portfolio carries this same gap. Placing people on the ladder requires watching them work.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15671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2F4A3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07 · HOW WE MEASURE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dirty="0">
                <a:solidFill>
                  <a:srgbClr val="1C1A1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We measure capability by observing days of real work.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7223760" cy="1152144"/>
          </a:xfrm>
          <a:prstGeom prst="roundRect">
            <a:avLst>
              <a:gd name="adj" fmla="val 7937"/>
            </a:avLst>
          </a:prstGeom>
          <a:solidFill>
            <a:srgbClr val="FFFFFF"/>
          </a:solidFill>
          <a:ln w="12700">
            <a:solidFill>
              <a:srgbClr val="E8DFC9"/>
            </a:solidFill>
            <a:prstDash val="solid"/>
          </a:ln>
          <a:effectLst>
            <a:outerShdw sx="100000" sy="100000" kx="0" ky="0" algn="bl" rotWithShape="0" blurRad="2.16374991948509e+62" dist="7.212499731616968e+61" dir="4.2316648611840007e+73">
              <a:srgbClr val="1C1A16">
                <a:alpha val="7.999999999999999e+73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911096"/>
            <a:ext cx="530352" cy="530352"/>
          </a:xfrm>
          <a:prstGeom prst="ellipse">
            <a:avLst/>
          </a:prstGeom>
          <a:solidFill>
            <a:srgbClr val="2F4A38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91109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AF7F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00200" y="1728216"/>
            <a:ext cx="5989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Observability agents sit in the coding sessions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600200" y="2148840"/>
            <a:ext cx="5989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Coding sessions only - never the rest of the laptop. Announced, approved, zero engineer hours lost.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898648"/>
            <a:ext cx="7223760" cy="1152144"/>
          </a:xfrm>
          <a:prstGeom prst="roundRect">
            <a:avLst>
              <a:gd name="adj" fmla="val 7937"/>
            </a:avLst>
          </a:prstGeom>
          <a:solidFill>
            <a:srgbClr val="FFFFFF"/>
          </a:solidFill>
          <a:ln w="12700">
            <a:solidFill>
              <a:srgbClr val="E8DFC9"/>
            </a:solidFill>
            <a:prstDash val="solid"/>
          </a:ln>
          <a:effectLst>
            <a:outerShdw sx="100000" sy="100000" kx="0" ky="0" algn="bl" rotWithShape="0" blurRad="2.747962397746064e+66" dist="9.15987465915355e+65" dir="2.5389989167104004e+78">
              <a:srgbClr val="1C1A16">
                <a:alpha val="7.999999999999998e+78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41248" y="3209544"/>
            <a:ext cx="530352" cy="530352"/>
          </a:xfrm>
          <a:prstGeom prst="ellipse">
            <a:avLst/>
          </a:prstGeom>
          <a:solidFill>
            <a:srgbClr val="2F4A38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320954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AF7F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600200" y="3026664"/>
            <a:ext cx="5989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They record how work happens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600200" y="3447288"/>
            <a:ext cx="5989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Engineering leads decide what gets measured for each role - which tasks go to agents, whether checkpoints and engineered context were applied, how results get verified.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197096"/>
            <a:ext cx="7223760" cy="1152144"/>
          </a:xfrm>
          <a:prstGeom prst="roundRect">
            <a:avLst>
              <a:gd name="adj" fmla="val 7937"/>
            </a:avLst>
          </a:prstGeom>
          <a:solidFill>
            <a:srgbClr val="FFFFFF"/>
          </a:solidFill>
          <a:ln w="12700">
            <a:solidFill>
              <a:srgbClr val="E8DFC9"/>
            </a:solidFill>
            <a:prstDash val="solid"/>
          </a:ln>
          <a:effectLst>
            <a:outerShdw sx="100000" sy="100000" kx="0" ky="0" algn="bl" rotWithShape="0" blurRad="3.4899122451375014e+70" dist="1.1633040817125008e+70" dir="1.5233993500262402e+83">
              <a:srgbClr val="1C1A16">
                <a:alpha val="7.999999999999998e+83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" y="4507992"/>
            <a:ext cx="530352" cy="530352"/>
          </a:xfrm>
          <a:prstGeom prst="ellipse">
            <a:avLst/>
          </a:prstGeom>
          <a:solidFill>
            <a:srgbClr val="2F4A38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45079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AF7F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600200" y="4325112"/>
            <a:ext cx="5989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We score each person against the level definitions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600200" y="4745736"/>
            <a:ext cx="5989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level - plus the observed evidence behind it.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092440" y="1600200"/>
            <a:ext cx="3547872" cy="3749040"/>
          </a:xfrm>
          <a:prstGeom prst="roundRect">
            <a:avLst>
              <a:gd name="adj" fmla="val 2577"/>
            </a:avLst>
          </a:prstGeom>
          <a:solidFill>
            <a:srgbClr val="2F4A38"/>
          </a:solidFill>
          <a:ln/>
          <a:effectLst>
            <a:outerShdw sx="100000" sy="100000" kx="0" ky="0" algn="bl" rotWithShape="0" blurRad="4.432188551324627e+74" dist="1.477396183774876e+74" dir="9.14039610015744e+87">
              <a:srgbClr val="1C1A16">
                <a:alpha val="7.999999999999998e+88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412480" y="1920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50" kern="0" dirty="0">
                <a:solidFill>
                  <a:srgbClr val="8FB89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CALIBRATION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412480" y="233172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AF7F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 role-matched live simulation calibrates every score.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412480" y="393192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CC5A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same instrument we use to screen forward-deployed engineers for frontier labs.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566928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7F3E9"/>
          </a:solidFill>
          <a:ln w="12700">
            <a:solidFill>
              <a:srgbClr val="E8DFC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5669280"/>
            <a:ext cx="10469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Workflow signals only - code never leaves the portco's environment  ·  reports go to the person and the CEO  ·  one 30-min security review with the portco CTO is the full approval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5671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2F4A3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08 · WHAT YOU GET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dirty="0">
                <a:solidFill>
                  <a:srgbClr val="1C1A1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Every person's level comes with the evidence behind it.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109960" cy="466344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E8DFC9"/>
            </a:solidFill>
            <a:prstDash val="solid"/>
          </a:ln>
          <a:effectLst>
            <a:outerShdw sx="100000" sy="100000" kx="0" ky="0" algn="bl" rotWithShape="0" blurRad="101600" dist="38100" dir="5400000">
              <a:srgbClr val="1C1A16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62763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C1A1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A. Mehta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14400" y="211226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Integrations engineer · Portco A · assessed 12 Jun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394960" y="1719072"/>
            <a:ext cx="621792" cy="457200"/>
          </a:xfrm>
          <a:prstGeom prst="roundRect">
            <a:avLst>
              <a:gd name="adj" fmla="val 12000"/>
            </a:avLst>
          </a:prstGeom>
          <a:solidFill>
            <a:srgbClr val="2F4A38"/>
          </a:solidFill>
          <a:ln w="12700">
            <a:solidFill>
              <a:srgbClr val="2F4A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94960" y="1719072"/>
            <a:ext cx="62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AF7F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08192" y="1719072"/>
            <a:ext cx="621792" cy="457200"/>
          </a:xfrm>
          <a:prstGeom prst="roundRect">
            <a:avLst>
              <a:gd name="adj" fmla="val 12000"/>
            </a:avLst>
          </a:prstGeom>
          <a:solidFill>
            <a:srgbClr val="2F4A38"/>
          </a:solidFill>
          <a:ln w="12700">
            <a:solidFill>
              <a:srgbClr val="2F4A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08192" y="1719072"/>
            <a:ext cx="62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AF7F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21424" y="1719072"/>
            <a:ext cx="621792" cy="457200"/>
          </a:xfrm>
          <a:prstGeom prst="roundRect">
            <a:avLst>
              <a:gd name="adj" fmla="val 12000"/>
            </a:avLst>
          </a:prstGeom>
          <a:solidFill>
            <a:srgbClr val="F7F3E9"/>
          </a:solidFill>
          <a:ln w="12700">
            <a:solidFill>
              <a:srgbClr val="E8DFC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21424" y="1719072"/>
            <a:ext cx="62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L3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534656" y="1719072"/>
            <a:ext cx="621792" cy="457200"/>
          </a:xfrm>
          <a:prstGeom prst="roundRect">
            <a:avLst>
              <a:gd name="adj" fmla="val 12000"/>
            </a:avLst>
          </a:prstGeom>
          <a:solidFill>
            <a:srgbClr val="F7F3E9"/>
          </a:solidFill>
          <a:ln w="12700">
            <a:solidFill>
              <a:srgbClr val="E8DFC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34656" y="1719072"/>
            <a:ext cx="62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L4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47888" y="1719072"/>
            <a:ext cx="621792" cy="457200"/>
          </a:xfrm>
          <a:prstGeom prst="roundRect">
            <a:avLst>
              <a:gd name="adj" fmla="val 12000"/>
            </a:avLst>
          </a:prstGeom>
          <a:solidFill>
            <a:srgbClr val="F7F3E9"/>
          </a:solidFill>
          <a:ln w="12700">
            <a:solidFill>
              <a:srgbClr val="E8DFC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47888" y="1719072"/>
            <a:ext cx="62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94960" y="22402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4A3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operates at L2</a:t>
            </a:r>
            <a:pPr indent="0" marL="0">
              <a:buNone/>
            </a:pPr>
            <a:r>
              <a:rPr lang="en-US" sz="110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 - agent-native, context-naive; drives the tool like a chat window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26060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SCORED DIMENSIONS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14400" y="292608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Context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606040" y="2976372"/>
            <a:ext cx="2834640" cy="182880"/>
          </a:xfrm>
          <a:prstGeom prst="roundRect">
            <a:avLst>
              <a:gd name="adj" fmla="val 25000"/>
            </a:avLst>
          </a:prstGeom>
          <a:solidFill>
            <a:srgbClr val="F7F3E9"/>
          </a:solidFill>
          <a:ln w="9525">
            <a:solidFill>
              <a:srgbClr val="E8DFC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06040" y="2976372"/>
            <a:ext cx="1133856" cy="182880"/>
          </a:xfrm>
          <a:prstGeom prst="roundRect">
            <a:avLst>
              <a:gd name="adj" fmla="val 25000"/>
            </a:avLst>
          </a:prstGeom>
          <a:solidFill>
            <a:srgbClr val="8FB89B"/>
          </a:solidFill>
          <a:ln/>
        </p:spPr>
      </p:sp>
      <p:sp>
        <p:nvSpPr>
          <p:cNvPr id="22" name="Text 20"/>
          <p:cNvSpPr/>
          <p:nvPr/>
        </p:nvSpPr>
        <p:spPr>
          <a:xfrm>
            <a:off x="5532120" y="292608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2/5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14400" y="3346704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Spec quality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606040" y="3396996"/>
            <a:ext cx="2834640" cy="182880"/>
          </a:xfrm>
          <a:prstGeom prst="roundRect">
            <a:avLst>
              <a:gd name="adj" fmla="val 25000"/>
            </a:avLst>
          </a:prstGeom>
          <a:solidFill>
            <a:srgbClr val="F7F3E9"/>
          </a:solidFill>
          <a:ln w="9525">
            <a:solidFill>
              <a:srgbClr val="E8DFC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06040" y="3396996"/>
            <a:ext cx="1133856" cy="182880"/>
          </a:xfrm>
          <a:prstGeom prst="roundRect">
            <a:avLst>
              <a:gd name="adj" fmla="val 25000"/>
            </a:avLst>
          </a:prstGeom>
          <a:solidFill>
            <a:srgbClr val="8FB89B"/>
          </a:solidFill>
          <a:ln/>
        </p:spPr>
      </p:sp>
      <p:sp>
        <p:nvSpPr>
          <p:cNvPr id="26" name="Text 24"/>
          <p:cNvSpPr/>
          <p:nvPr/>
        </p:nvSpPr>
        <p:spPr>
          <a:xfrm>
            <a:off x="5532120" y="334670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2/5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14400" y="376732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Tests-first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2606040" y="3817620"/>
            <a:ext cx="2834640" cy="182880"/>
          </a:xfrm>
          <a:prstGeom prst="roundRect">
            <a:avLst>
              <a:gd name="adj" fmla="val 25000"/>
            </a:avLst>
          </a:prstGeom>
          <a:solidFill>
            <a:srgbClr val="F7F3E9"/>
          </a:solidFill>
          <a:ln w="9525">
            <a:solidFill>
              <a:srgbClr val="E8DFC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606040" y="3817620"/>
            <a:ext cx="566928" cy="182880"/>
          </a:xfrm>
          <a:prstGeom prst="roundRect">
            <a:avLst>
              <a:gd name="adj" fmla="val 25000"/>
            </a:avLst>
          </a:prstGeom>
          <a:solidFill>
            <a:srgbClr val="8FB89B"/>
          </a:solidFill>
          <a:ln/>
        </p:spPr>
      </p:sp>
      <p:sp>
        <p:nvSpPr>
          <p:cNvPr id="30" name="Text 28"/>
          <p:cNvSpPr/>
          <p:nvPr/>
        </p:nvSpPr>
        <p:spPr>
          <a:xfrm>
            <a:off x="5532120" y="376732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1/5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914400" y="418795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Diff review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2606040" y="4238244"/>
            <a:ext cx="2834640" cy="182880"/>
          </a:xfrm>
          <a:prstGeom prst="roundRect">
            <a:avLst>
              <a:gd name="adj" fmla="val 25000"/>
            </a:avLst>
          </a:prstGeom>
          <a:solidFill>
            <a:srgbClr val="F7F3E9"/>
          </a:solidFill>
          <a:ln w="9525">
            <a:solidFill>
              <a:srgbClr val="E8DFC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606040" y="4238244"/>
            <a:ext cx="1700784" cy="182880"/>
          </a:xfrm>
          <a:prstGeom prst="roundRect">
            <a:avLst>
              <a:gd name="adj" fmla="val 25000"/>
            </a:avLst>
          </a:prstGeom>
          <a:solidFill>
            <a:srgbClr val="2F4A38"/>
          </a:solidFill>
          <a:ln/>
        </p:spPr>
      </p:sp>
      <p:sp>
        <p:nvSpPr>
          <p:cNvPr id="34" name="Text 32"/>
          <p:cNvSpPr/>
          <p:nvPr/>
        </p:nvSpPr>
        <p:spPr>
          <a:xfrm>
            <a:off x="5532120" y="4187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3/5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914400" y="4608576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Fan-out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2606040" y="4658868"/>
            <a:ext cx="2834640" cy="182880"/>
          </a:xfrm>
          <a:prstGeom prst="roundRect">
            <a:avLst>
              <a:gd name="adj" fmla="val 25000"/>
            </a:avLst>
          </a:prstGeom>
          <a:solidFill>
            <a:srgbClr val="F7F3E9"/>
          </a:solidFill>
          <a:ln w="9525">
            <a:solidFill>
              <a:srgbClr val="E8DFC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606040" y="4658868"/>
            <a:ext cx="566928" cy="182880"/>
          </a:xfrm>
          <a:prstGeom prst="roundRect">
            <a:avLst>
              <a:gd name="adj" fmla="val 25000"/>
            </a:avLst>
          </a:prstGeom>
          <a:solidFill>
            <a:srgbClr val="8FB89B"/>
          </a:solidFill>
          <a:ln/>
        </p:spPr>
      </p:sp>
      <p:sp>
        <p:nvSpPr>
          <p:cNvPr id="38" name="Text 36"/>
          <p:cNvSpPr/>
          <p:nvPr/>
        </p:nvSpPr>
        <p:spPr>
          <a:xfrm>
            <a:off x="5532120" y="460857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1/5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914400" y="502920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Judgment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2606040" y="5079492"/>
            <a:ext cx="2834640" cy="182880"/>
          </a:xfrm>
          <a:prstGeom prst="roundRect">
            <a:avLst>
              <a:gd name="adj" fmla="val 25000"/>
            </a:avLst>
          </a:prstGeom>
          <a:solidFill>
            <a:srgbClr val="F7F3E9"/>
          </a:solidFill>
          <a:ln w="9525">
            <a:solidFill>
              <a:srgbClr val="E8DFC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606040" y="5079492"/>
            <a:ext cx="2267712" cy="182880"/>
          </a:xfrm>
          <a:prstGeom prst="roundRect">
            <a:avLst>
              <a:gd name="adj" fmla="val 25000"/>
            </a:avLst>
          </a:prstGeom>
          <a:solidFill>
            <a:srgbClr val="2F4A38"/>
          </a:solidFill>
          <a:ln/>
        </p:spPr>
      </p:sp>
      <p:sp>
        <p:nvSpPr>
          <p:cNvPr id="42" name="Text 40"/>
          <p:cNvSpPr/>
          <p:nvPr/>
        </p:nvSpPr>
        <p:spPr>
          <a:xfrm>
            <a:off x="5532120" y="50292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4/5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720840" y="26060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WHAT WE SAW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720840" y="2926080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1C1A1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“one-shot prompt, then merged the diff unread”</a:t>
            </a:r>
            <a:endParaRPr lang="en-US" sz="1450" dirty="0"/>
          </a:p>
        </p:txBody>
      </p:sp>
      <p:sp>
        <p:nvSpPr>
          <p:cNvPr id="45" name="Text 43"/>
          <p:cNvSpPr/>
          <p:nvPr/>
        </p:nvSpPr>
        <p:spPr>
          <a:xfrm>
            <a:off x="6720840" y="3611880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1C1A1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“ran the code once and called it verified”</a:t>
            </a:r>
            <a:endParaRPr lang="en-US" sz="1450" dirty="0"/>
          </a:p>
        </p:txBody>
      </p:sp>
      <p:sp>
        <p:nvSpPr>
          <p:cNvPr id="46" name="Text 44"/>
          <p:cNvSpPr/>
          <p:nvPr/>
        </p:nvSpPr>
        <p:spPr>
          <a:xfrm>
            <a:off x="6720840" y="4297680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1C1A1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“knew exactly when not to use the agent - strongest signal”</a:t>
            </a:r>
            <a:endParaRPr lang="en-US" sz="1450" dirty="0"/>
          </a:p>
        </p:txBody>
      </p:sp>
      <p:sp>
        <p:nvSpPr>
          <p:cNvPr id="47" name="Shape 45"/>
          <p:cNvSpPr/>
          <p:nvPr/>
        </p:nvSpPr>
        <p:spPr>
          <a:xfrm>
            <a:off x="914400" y="5440680"/>
            <a:ext cx="10332720" cy="475488"/>
          </a:xfrm>
          <a:prstGeom prst="roundRect">
            <a:avLst>
              <a:gd name="adj" fmla="val 15385"/>
            </a:avLst>
          </a:prstGeom>
          <a:solidFill>
            <a:srgbClr val="9CC5A5">
              <a:alpha val="45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1143000" y="5440680"/>
            <a:ext cx="9966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4A3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path to L3:  </a:t>
            </a:r>
            <a:pPr indent="0" marL="0">
              <a:buNone/>
            </a:pPr>
            <a:r>
              <a:rPr lang="en-US" sz="1200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build the instructions file  ·  supply files on purpose  ·  write the spec before prompting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48640" y="626364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2F4A3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 growth map, never a report card.</a:t>
            </a:r>
            <a:endParaRPr lang="en-US" sz="1700" dirty="0"/>
          </a:p>
        </p:txBody>
      </p:sp>
      <p:sp>
        <p:nvSpPr>
          <p:cNvPr id="50" name="Text 48"/>
          <p:cNvSpPr/>
          <p:nvPr/>
        </p:nvSpPr>
        <p:spPr>
          <a:xfrm>
            <a:off x="115671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2F4A3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09 · THE PATH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dirty="0">
                <a:solidFill>
                  <a:srgbClr val="1C1A1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Three moves take a portco from baseline to proven capability gains.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11880" cy="2423160"/>
          </a:xfrm>
          <a:prstGeom prst="roundRect">
            <a:avLst>
              <a:gd name="adj" fmla="val 3774"/>
            </a:avLst>
          </a:prstGeom>
          <a:solidFill>
            <a:srgbClr val="2F4A38"/>
          </a:solidFill>
          <a:ln/>
          <a:effectLst>
            <a:outerShdw sx="100000" sy="100000" kx="0" ky="0" algn="bl" rotWithShape="0" blurRad="5.628879460182276e+78" dist="1.8762931533940924e+78" dir="5.484237660094465e+92">
              <a:srgbClr val="1C1A16">
                <a:alpha val="7.9999999999999985e+93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029968"/>
            <a:ext cx="530352" cy="530352"/>
          </a:xfrm>
          <a:prstGeom prst="ellipse">
            <a:avLst/>
          </a:prstGeom>
          <a:solidFill>
            <a:srgbClr val="FAF7F0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202996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F4A3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41248" y="274320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AF7F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Measure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41248" y="329184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C5A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2-3 weeks, one portco: capability map, readiness scorecard, sequenced 100-day plan.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62272" y="1737360"/>
            <a:ext cx="3611880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E8DFC9"/>
            </a:solidFill>
            <a:prstDash val="solid"/>
          </a:ln>
          <a:effectLst>
            <a:outerShdw sx="100000" sy="100000" kx="0" ky="0" algn="bl" rotWithShape="0" blurRad="7.14867691443149e+82" dist="2.3828923048104974e+82" dir="3.2905425960566786e+97">
              <a:srgbClr val="1C1A16">
                <a:alpha val="7.999999999999999e+98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2029968"/>
            <a:ext cx="530352" cy="530352"/>
          </a:xfrm>
          <a:prstGeom prst="ellipse">
            <a:avLst/>
          </a:prstGeom>
          <a:solidFill>
            <a:srgbClr val="2F4A38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202996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AF7F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754880" y="274320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C1A1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Move the levels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754880" y="329184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12-week cohorts by assessed level - skills like checkpoints and context engineering, drilled on the team's real tickets inside the live workflow.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375904" y="1737360"/>
            <a:ext cx="3611880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E8DFC9"/>
            </a:solidFill>
            <a:prstDash val="solid"/>
          </a:ln>
          <a:effectLst>
            <a:outerShdw sx="100000" sy="100000" kx="0" ky="0" algn="bl" rotWithShape="0" blurRad="9.078819681327992e+86" dist="3.0262732271093317e+86" dir="1.9743255576340073e+102">
              <a:srgbClr val="1C1A16">
                <a:alpha val="7.999999999999998e+103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68512" y="2029968"/>
            <a:ext cx="530352" cy="530352"/>
          </a:xfrm>
          <a:prstGeom prst="ellipse">
            <a:avLst/>
          </a:prstGeom>
          <a:solidFill>
            <a:srgbClr val="2F4A38"/>
          </a:solidFill>
          <a:ln/>
        </p:spPr>
      </p:sp>
      <p:sp>
        <p:nvSpPr>
          <p:cNvPr id="16" name="Text 14"/>
          <p:cNvSpPr/>
          <p:nvPr/>
        </p:nvSpPr>
        <p:spPr>
          <a:xfrm>
            <a:off x="8668512" y="202996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AF7F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668512" y="274320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C1A1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Prove it moved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668512" y="329184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Quarterly re-measure with telemetry on - movement in numbers your IC can read.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52628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F7F3E9"/>
          </a:solidFill>
          <a:ln w="12700">
            <a:solidFill>
              <a:srgbClr val="E8DFC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462686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50" kern="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ILLUSTRATIVE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868680" y="4846320"/>
            <a:ext cx="10469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4A3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Only what's measured improves:   </a:t>
            </a:r>
            <a:pPr indent="0" marL="0">
              <a:buNone/>
            </a:pPr>
            <a:r>
              <a:rPr lang="en-US" sz="1250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hand-corrected agent output ↓  +  agent-authored share ↑</a:t>
            </a:r>
            <a:pPr indent="0" marL="0">
              <a:buNone/>
            </a:pPr>
            <a:r>
              <a:rPr lang="en-US" sz="125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    →    </a:t>
            </a:r>
            <a:pPr indent="0" marL="0">
              <a:buNone/>
            </a:pPr>
            <a:r>
              <a:rPr lang="en-US" sz="1250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cycle time on comparable tickets ↓</a:t>
            </a:r>
            <a:pPr indent="0" marL="0">
              <a:buNone/>
            </a:pPr>
            <a:r>
              <a:rPr lang="en-US" sz="125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    →    </a:t>
            </a:r>
            <a:pPr indent="0" marL="0">
              <a:buNone/>
            </a:pPr>
            <a:r>
              <a:rPr lang="en-US" sz="1250" b="1" dirty="0">
                <a:solidFill>
                  <a:srgbClr val="2F4A3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capacity per head ↑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2F4A3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An ugly baseline seen now is pre-diligence on your terms.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15671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2F4A3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10 · WHY US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dirty="0">
                <a:solidFill>
                  <a:srgbClr val="1C1A1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We've watched AI deployment fail from the other side of the table.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4290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8DFC9"/>
            </a:solidFill>
            <a:prstDash val="solid"/>
          </a:ln>
          <a:effectLst>
            <a:outerShdw sx="100000" sy="100000" kx="0" ky="0" algn="bl" rotWithShape="0" blurRad="1.153010099528655e+91" dist="3.8433669984288512e+90" dir="1.1845953345804043e+107">
              <a:srgbClr val="1C1A16">
                <a:alpha val="7.999999999999998e+108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92024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Frontier labs deploy engineers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04672" y="260604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into companies like your portcos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5072" y="224028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2F4A3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26280" y="1737360"/>
            <a:ext cx="34290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8DFC9"/>
            </a:solidFill>
            <a:prstDash val="solid"/>
          </a:ln>
          <a:effectLst>
            <a:outerShdw sx="100000" sy="100000" kx="0" ky="0" algn="bl" rotWithShape="0" blurRad="1.4643228264013918e+95" dist="4.8810760880046414e+94" dir="7.107572007482426e+111">
              <a:srgbClr val="1C1A16">
                <a:alpha val="7.999999999999999e+113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82312" y="192024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Deployment lands; absorption doesn't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782312" y="260604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and no one deploying is paid to fix that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982712" y="224028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2F4A3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8503920" y="1737360"/>
            <a:ext cx="3429000" cy="1600200"/>
          </a:xfrm>
          <a:prstGeom prst="roundRect">
            <a:avLst>
              <a:gd name="adj" fmla="val 5714"/>
            </a:avLst>
          </a:prstGeom>
          <a:solidFill>
            <a:srgbClr val="2F4A38"/>
          </a:solidFill>
          <a:ln/>
          <a:effectLst>
            <a:outerShdw sx="100000" sy="100000" kx="0" ky="0" algn="bl" rotWithShape="0" blurRad="1.8596899895297677e+99" dist="6.198966631765894e+98" dir="4.2645432044894554e+116">
              <a:srgbClr val="1C1A16">
                <a:alpha val="7.999999999999999e+118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759952" y="192024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AF7F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We assess the absorbers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759952" y="260604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C5A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same instrument, pointed at your teams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37033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We screen FDEs for  </a:t>
            </a:r>
            <a:pPr algn="ctr" indent="0" marL="0">
              <a:buNone/>
            </a:pPr>
            <a:r>
              <a:rPr lang="en-US" sz="1500" b="1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frontier AI lab · a vertical AI company · 3 YC-backed AI cos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554480" y="4389120"/>
            <a:ext cx="43434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8DFC9"/>
            </a:solidFill>
            <a:prstDash val="solid"/>
          </a:ln>
          <a:effectLst>
            <a:outerShdw sx="100000" sy="100000" kx="0" ky="0" algn="bl" rotWithShape="0" blurRad="2.361806286702805e+103" dist="7.872687622342685e+102" dir="2.5587259226936733e+121">
              <a:srgbClr val="1C1A16">
                <a:alpha val="7.999999999999999e+123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457200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F4A3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Pulkit Walia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828800" y="5120640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Built the engineering assessment and skilling system at Urban Company ($3B IPO), a tech-enabled trades marketplace.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09360" y="4389120"/>
            <a:ext cx="43434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8DFC9"/>
            </a:solidFill>
            <a:prstDash val="solid"/>
          </a:ln>
          <a:effectLst>
            <a:outerShdw sx="100000" sy="100000" kx="0" ky="0" algn="bl" rotWithShape="0" blurRad="2.999493984112562e+107" dist="9.998313280375211e+106" dir="1.535235553616204e+126">
              <a:srgbClr val="1C1A16">
                <a:alpha val="7.999999999999999e+128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83680" y="457200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F4A3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Rohit Jain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583680" y="5120640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25,000+ engineers trained. Hundreds of big-tech interview loops run from the other side of the table.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15671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F4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FB89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START HERE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AF7F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Start with one portco - $1,000 a seat, results in three weeks.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760720" cy="3291840"/>
          </a:xfrm>
          <a:prstGeom prst="roundRect">
            <a:avLst>
              <a:gd name="adj" fmla="val 2778"/>
            </a:avLst>
          </a:prstGeom>
          <a:solidFill>
            <a:srgbClr val="27402F"/>
          </a:solidFill>
          <a:ln w="9525">
            <a:solidFill>
              <a:srgbClr val="8FB89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83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50" kern="0" dirty="0">
                <a:solidFill>
                  <a:srgbClr val="8FB89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WHAT YOU GET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" y="2130552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AF7F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level scorecard for every person</a:t>
            </a:r>
            <a:endParaRPr lang="en-US" sz="13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9CC5A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with the observed evidence behind it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697480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AF7F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team map by function</a:t>
            </a:r>
            <a:endParaRPr lang="en-US" sz="13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9CC5A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where the whole portco sits, L1-L5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3264408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AF7F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leak map</a:t>
            </a:r>
            <a:endParaRPr lang="en-US" sz="13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9CC5A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where value per token is being lost, task by task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3831336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AF7F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sequenced 100-day plan</a:t>
            </a:r>
            <a:endParaRPr lang="en-US" sz="13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9CC5A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what to fix first - people or infrastructure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8680" y="4462272"/>
            <a:ext cx="5120640" cy="0"/>
          </a:xfrm>
          <a:prstGeom prst="line">
            <a:avLst/>
          </a:prstGeom>
          <a:noFill/>
          <a:ln w="9525">
            <a:solidFill>
              <a:srgbClr val="8FB89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553712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8FB89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TYPICAL RUN   </a:t>
            </a:r>
            <a:pPr indent="0" marL="0">
              <a:buNone/>
            </a:pPr>
            <a:r>
              <a:rPr lang="en-US" sz="1200" dirty="0">
                <a:solidFill>
                  <a:srgbClr val="FAF7F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30-40 seats · $30-40k · fund or portco budget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720840" y="1783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50" kern="0" dirty="0">
                <a:solidFill>
                  <a:srgbClr val="8FB89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THEN, IF IT EARNS IT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20840" y="2130552"/>
            <a:ext cx="4114800" cy="658368"/>
          </a:xfrm>
          <a:prstGeom prst="roundRect">
            <a:avLst>
              <a:gd name="adj" fmla="val 13889"/>
            </a:avLst>
          </a:prstGeom>
          <a:solidFill>
            <a:srgbClr val="9CC5A5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2130552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4A3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one portco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178040" y="2916936"/>
            <a:ext cx="4114800" cy="658368"/>
          </a:xfrm>
          <a:prstGeom prst="roundRect">
            <a:avLst>
              <a:gd name="adj" fmla="val 13889"/>
            </a:avLst>
          </a:prstGeom>
          <a:solidFill>
            <a:srgbClr val="8FB89B"/>
          </a:solidFill>
          <a:ln/>
        </p:spPr>
      </p:sp>
      <p:sp>
        <p:nvSpPr>
          <p:cNvPr id="16" name="Text 14"/>
          <p:cNvSpPr/>
          <p:nvPr/>
        </p:nvSpPr>
        <p:spPr>
          <a:xfrm>
            <a:off x="7178040" y="2916936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4A3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portfolio dashboard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635240" y="3703320"/>
            <a:ext cx="4114800" cy="658368"/>
          </a:xfrm>
          <a:prstGeom prst="roundRect">
            <a:avLst>
              <a:gd name="adj" fmla="val 13889"/>
            </a:avLst>
          </a:prstGeom>
          <a:solidFill>
            <a:srgbClr val="FAF7F0"/>
          </a:solidFill>
          <a:ln/>
        </p:spPr>
      </p:sp>
      <p:sp>
        <p:nvSpPr>
          <p:cNvPr id="18" name="Text 16"/>
          <p:cNvSpPr/>
          <p:nvPr/>
        </p:nvSpPr>
        <p:spPr>
          <a:xfrm>
            <a:off x="7635240" y="3703320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4A3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upskilling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720840" y="45720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CC5A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Start where engineering cost is the thesis.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" y="5138928"/>
            <a:ext cx="0" cy="868680"/>
          </a:xfrm>
          <a:prstGeom prst="line">
            <a:avLst/>
          </a:prstGeom>
          <a:noFill/>
          <a:ln w="25400">
            <a:solidFill>
              <a:srgbClr val="8FB89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51023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8FB89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LINE TO FORWARD TO YOUR IC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097280" y="5376672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AF7F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“For $40k and three weeks we get a measured answer on whether [portco]'s AI spend is building capability or shelfware - before a buyer's diligence team asks.”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48640" y="629107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CC5A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30 mins to scope it. We'll bring the instrument.</a:t>
            </a:r>
            <a:pPr algn="ctr" indent="0" marL="0">
              <a:buNone/>
            </a:pPr>
            <a:r>
              <a:rPr lang="en-US" sz="1150" dirty="0">
                <a:solidFill>
                  <a:srgbClr val="8FB89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      Pulkit Walia · laoh.ai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2F4A3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BACKUP · THE TEAM MAP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dirty="0">
                <a:solidFill>
                  <a:srgbClr val="1C1A1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Person scorecards roll up into a team map by function.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2606040" y="1627632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361688" y="1627632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117336" y="1627632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872984" y="1627632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28632" y="1627632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L5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96596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Backend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12 engineers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679192" y="1965960"/>
            <a:ext cx="1609344" cy="777240"/>
          </a:xfrm>
          <a:prstGeom prst="roundRect">
            <a:avLst>
              <a:gd name="adj" fmla="val 7059"/>
            </a:avLst>
          </a:prstGeom>
          <a:solidFill>
            <a:srgbClr val="9CC5A5"/>
          </a:solidFill>
          <a:ln/>
        </p:spPr>
      </p:sp>
      <p:sp>
        <p:nvSpPr>
          <p:cNvPr id="11" name="Text 9"/>
          <p:cNvSpPr/>
          <p:nvPr/>
        </p:nvSpPr>
        <p:spPr>
          <a:xfrm>
            <a:off x="2679192" y="1965960"/>
            <a:ext cx="1609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434840" y="1965960"/>
            <a:ext cx="1609344" cy="777240"/>
          </a:xfrm>
          <a:prstGeom prst="roundRect">
            <a:avLst>
              <a:gd name="adj" fmla="val 7059"/>
            </a:avLst>
          </a:prstGeom>
          <a:solidFill>
            <a:srgbClr val="2F4A38"/>
          </a:solidFill>
          <a:ln/>
        </p:spPr>
      </p:sp>
      <p:sp>
        <p:nvSpPr>
          <p:cNvPr id="13" name="Text 11"/>
          <p:cNvSpPr/>
          <p:nvPr/>
        </p:nvSpPr>
        <p:spPr>
          <a:xfrm>
            <a:off x="4434840" y="1965960"/>
            <a:ext cx="1609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AF7F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7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190488" y="1965960"/>
            <a:ext cx="1609344" cy="777240"/>
          </a:xfrm>
          <a:prstGeom prst="roundRect">
            <a:avLst>
              <a:gd name="adj" fmla="val 7059"/>
            </a:avLst>
          </a:prstGeom>
          <a:solidFill>
            <a:srgbClr val="8FB89B"/>
          </a:solidFill>
          <a:ln/>
        </p:spPr>
      </p:sp>
      <p:sp>
        <p:nvSpPr>
          <p:cNvPr id="15" name="Text 13"/>
          <p:cNvSpPr/>
          <p:nvPr/>
        </p:nvSpPr>
        <p:spPr>
          <a:xfrm>
            <a:off x="6190488" y="1965960"/>
            <a:ext cx="1609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946136" y="1965960"/>
            <a:ext cx="1609344" cy="777240"/>
          </a:xfrm>
          <a:prstGeom prst="roundRect">
            <a:avLst>
              <a:gd name="adj" fmla="val 7059"/>
            </a:avLst>
          </a:prstGeom>
          <a:solidFill>
            <a:srgbClr val="F7F3E9"/>
          </a:solidFill>
          <a:ln w="12700">
            <a:solidFill>
              <a:srgbClr val="E8DFC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46136" y="1965960"/>
            <a:ext cx="1609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–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701784" y="1965960"/>
            <a:ext cx="1609344" cy="777240"/>
          </a:xfrm>
          <a:prstGeom prst="roundRect">
            <a:avLst>
              <a:gd name="adj" fmla="val 7059"/>
            </a:avLst>
          </a:prstGeom>
          <a:solidFill>
            <a:srgbClr val="F7F3E9"/>
          </a:solidFill>
          <a:ln w="12700">
            <a:solidFill>
              <a:srgbClr val="E8DFC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01784" y="1965960"/>
            <a:ext cx="1609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8640" y="2852928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Frontend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8 engineers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679192" y="2852928"/>
            <a:ext cx="1609344" cy="777240"/>
          </a:xfrm>
          <a:prstGeom prst="roundRect">
            <a:avLst>
              <a:gd name="adj" fmla="val 7059"/>
            </a:avLst>
          </a:prstGeom>
          <a:solidFill>
            <a:srgbClr val="9CC5A5"/>
          </a:solidFill>
          <a:ln/>
        </p:spPr>
      </p:sp>
      <p:sp>
        <p:nvSpPr>
          <p:cNvPr id="22" name="Text 20"/>
          <p:cNvSpPr/>
          <p:nvPr/>
        </p:nvSpPr>
        <p:spPr>
          <a:xfrm>
            <a:off x="2679192" y="2852928"/>
            <a:ext cx="1609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434840" y="2852928"/>
            <a:ext cx="1609344" cy="777240"/>
          </a:xfrm>
          <a:prstGeom prst="roundRect">
            <a:avLst>
              <a:gd name="adj" fmla="val 7059"/>
            </a:avLst>
          </a:prstGeom>
          <a:solidFill>
            <a:srgbClr val="2F4A38"/>
          </a:solidFill>
          <a:ln/>
        </p:spPr>
      </p:sp>
      <p:sp>
        <p:nvSpPr>
          <p:cNvPr id="24" name="Text 22"/>
          <p:cNvSpPr/>
          <p:nvPr/>
        </p:nvSpPr>
        <p:spPr>
          <a:xfrm>
            <a:off x="4434840" y="2852928"/>
            <a:ext cx="1609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AF7F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190488" y="2852928"/>
            <a:ext cx="1609344" cy="777240"/>
          </a:xfrm>
          <a:prstGeom prst="roundRect">
            <a:avLst>
              <a:gd name="adj" fmla="val 7059"/>
            </a:avLst>
          </a:prstGeom>
          <a:solidFill>
            <a:srgbClr val="9CC5A5"/>
          </a:solidFill>
          <a:ln/>
        </p:spPr>
      </p:sp>
      <p:sp>
        <p:nvSpPr>
          <p:cNvPr id="26" name="Text 24"/>
          <p:cNvSpPr/>
          <p:nvPr/>
        </p:nvSpPr>
        <p:spPr>
          <a:xfrm>
            <a:off x="6190488" y="2852928"/>
            <a:ext cx="1609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2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946136" y="2852928"/>
            <a:ext cx="1609344" cy="777240"/>
          </a:xfrm>
          <a:prstGeom prst="roundRect">
            <a:avLst>
              <a:gd name="adj" fmla="val 7059"/>
            </a:avLst>
          </a:prstGeom>
          <a:solidFill>
            <a:srgbClr val="F7F3E9"/>
          </a:solidFill>
          <a:ln w="12700">
            <a:solidFill>
              <a:srgbClr val="E8DFC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946136" y="2852928"/>
            <a:ext cx="1609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–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9701784" y="2852928"/>
            <a:ext cx="1609344" cy="777240"/>
          </a:xfrm>
          <a:prstGeom prst="roundRect">
            <a:avLst>
              <a:gd name="adj" fmla="val 7059"/>
            </a:avLst>
          </a:prstGeom>
          <a:solidFill>
            <a:srgbClr val="F7F3E9"/>
          </a:solidFill>
          <a:ln w="12700">
            <a:solidFill>
              <a:srgbClr val="E8DFC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701784" y="2852928"/>
            <a:ext cx="1609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–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48640" y="3739896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Platform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5 engineers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2679192" y="3739896"/>
            <a:ext cx="1609344" cy="777240"/>
          </a:xfrm>
          <a:prstGeom prst="roundRect">
            <a:avLst>
              <a:gd name="adj" fmla="val 7059"/>
            </a:avLst>
          </a:prstGeom>
          <a:solidFill>
            <a:srgbClr val="9CC5A5"/>
          </a:solidFill>
          <a:ln/>
        </p:spPr>
      </p:sp>
      <p:sp>
        <p:nvSpPr>
          <p:cNvPr id="33" name="Text 31"/>
          <p:cNvSpPr/>
          <p:nvPr/>
        </p:nvSpPr>
        <p:spPr>
          <a:xfrm>
            <a:off x="2679192" y="3739896"/>
            <a:ext cx="1609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2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434840" y="3739896"/>
            <a:ext cx="1609344" cy="777240"/>
          </a:xfrm>
          <a:prstGeom prst="roundRect">
            <a:avLst>
              <a:gd name="adj" fmla="val 7059"/>
            </a:avLst>
          </a:prstGeom>
          <a:solidFill>
            <a:srgbClr val="8FB89B"/>
          </a:solidFill>
          <a:ln/>
        </p:spPr>
      </p:sp>
      <p:sp>
        <p:nvSpPr>
          <p:cNvPr id="35" name="Text 33"/>
          <p:cNvSpPr/>
          <p:nvPr/>
        </p:nvSpPr>
        <p:spPr>
          <a:xfrm>
            <a:off x="4434840" y="3739896"/>
            <a:ext cx="1609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3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190488" y="3739896"/>
            <a:ext cx="1609344" cy="777240"/>
          </a:xfrm>
          <a:prstGeom prst="roundRect">
            <a:avLst>
              <a:gd name="adj" fmla="val 7059"/>
            </a:avLst>
          </a:prstGeom>
          <a:solidFill>
            <a:srgbClr val="F7F3E9"/>
          </a:solidFill>
          <a:ln w="12700">
            <a:solidFill>
              <a:srgbClr val="E8DFC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90488" y="3739896"/>
            <a:ext cx="1609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–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946136" y="3739896"/>
            <a:ext cx="1609344" cy="777240"/>
          </a:xfrm>
          <a:prstGeom prst="roundRect">
            <a:avLst>
              <a:gd name="adj" fmla="val 7059"/>
            </a:avLst>
          </a:prstGeom>
          <a:solidFill>
            <a:srgbClr val="F7F3E9"/>
          </a:solidFill>
          <a:ln w="12700">
            <a:solidFill>
              <a:srgbClr val="E8DFC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946136" y="3739896"/>
            <a:ext cx="1609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–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9701784" y="3739896"/>
            <a:ext cx="1609344" cy="777240"/>
          </a:xfrm>
          <a:prstGeom prst="roundRect">
            <a:avLst>
              <a:gd name="adj" fmla="val 7059"/>
            </a:avLst>
          </a:prstGeom>
          <a:solidFill>
            <a:srgbClr val="F7F3E9"/>
          </a:solidFill>
          <a:ln w="12700">
            <a:solidFill>
              <a:srgbClr val="E8DFC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701784" y="3739896"/>
            <a:ext cx="1609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–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48640" y="4626864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Data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6 engineers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2679192" y="4626864"/>
            <a:ext cx="1609344" cy="777240"/>
          </a:xfrm>
          <a:prstGeom prst="roundRect">
            <a:avLst>
              <a:gd name="adj" fmla="val 7059"/>
            </a:avLst>
          </a:prstGeom>
          <a:solidFill>
            <a:srgbClr val="9CC5A5"/>
          </a:solidFill>
          <a:ln/>
        </p:spPr>
      </p:sp>
      <p:sp>
        <p:nvSpPr>
          <p:cNvPr id="44" name="Text 42"/>
          <p:cNvSpPr/>
          <p:nvPr/>
        </p:nvSpPr>
        <p:spPr>
          <a:xfrm>
            <a:off x="2679192" y="4626864"/>
            <a:ext cx="1609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4434840" y="4626864"/>
            <a:ext cx="1609344" cy="777240"/>
          </a:xfrm>
          <a:prstGeom prst="roundRect">
            <a:avLst>
              <a:gd name="adj" fmla="val 7059"/>
            </a:avLst>
          </a:prstGeom>
          <a:solidFill>
            <a:srgbClr val="8FB89B"/>
          </a:solidFill>
          <a:ln/>
        </p:spPr>
      </p:sp>
      <p:sp>
        <p:nvSpPr>
          <p:cNvPr id="46" name="Text 44"/>
          <p:cNvSpPr/>
          <p:nvPr/>
        </p:nvSpPr>
        <p:spPr>
          <a:xfrm>
            <a:off x="4434840" y="4626864"/>
            <a:ext cx="1609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3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190488" y="4626864"/>
            <a:ext cx="1609344" cy="777240"/>
          </a:xfrm>
          <a:prstGeom prst="roundRect">
            <a:avLst>
              <a:gd name="adj" fmla="val 7059"/>
            </a:avLst>
          </a:prstGeom>
          <a:solidFill>
            <a:srgbClr val="9CC5A5"/>
          </a:solidFill>
          <a:ln/>
        </p:spPr>
      </p:sp>
      <p:sp>
        <p:nvSpPr>
          <p:cNvPr id="48" name="Text 46"/>
          <p:cNvSpPr/>
          <p:nvPr/>
        </p:nvSpPr>
        <p:spPr>
          <a:xfrm>
            <a:off x="6190488" y="4626864"/>
            <a:ext cx="1609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2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7946136" y="4626864"/>
            <a:ext cx="1609344" cy="777240"/>
          </a:xfrm>
          <a:prstGeom prst="roundRect">
            <a:avLst>
              <a:gd name="adj" fmla="val 7059"/>
            </a:avLst>
          </a:prstGeom>
          <a:solidFill>
            <a:srgbClr val="F7F3E9"/>
          </a:solidFill>
          <a:ln w="12700">
            <a:solidFill>
              <a:srgbClr val="E8DFC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946136" y="4626864"/>
            <a:ext cx="1609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–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9701784" y="4626864"/>
            <a:ext cx="1609344" cy="777240"/>
          </a:xfrm>
          <a:prstGeom prst="roundRect">
            <a:avLst>
              <a:gd name="adj" fmla="val 7059"/>
            </a:avLst>
          </a:prstGeom>
          <a:solidFill>
            <a:srgbClr val="F7F3E9"/>
          </a:solidFill>
          <a:ln w="12700">
            <a:solidFill>
              <a:srgbClr val="E8DFC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701784" y="4626864"/>
            <a:ext cx="1609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–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548640" y="566928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7F3E9"/>
          </a:solidFill>
          <a:ln w="12700">
            <a:solidFill>
              <a:srgbClr val="E8DFC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68680" y="5669280"/>
            <a:ext cx="10469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50" kern="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SAMPLE PORTCO   </a:t>
            </a:r>
            <a:pPr indent="0" marL="0">
              <a:buNone/>
            </a:pPr>
            <a:r>
              <a:rPr lang="en-US" sz="1250" b="1" dirty="0">
                <a:solidFill>
                  <a:srgbClr val="2F4A3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read: </a:t>
            </a:r>
            <a:pPr indent="0" marL="0">
              <a:buNone/>
            </a:pPr>
            <a:r>
              <a:rPr lang="en-US" sz="1250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most engineers sit at L2 - agent tools adopted, context discipline missing. No one past L3. The 100-day plan starts at the L3 dividing line, backend first.</a:t>
            </a:r>
            <a:endParaRPr lang="en-US" sz="1250" dirty="0"/>
          </a:p>
        </p:txBody>
      </p:sp>
      <p:sp>
        <p:nvSpPr>
          <p:cNvPr id="55" name="Text 53"/>
          <p:cNvSpPr/>
          <p:nvPr/>
        </p:nvSpPr>
        <p:spPr>
          <a:xfrm>
            <a:off x="115671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2026-07-18T05:24:20Z</dcterms:created>
  <dcterms:modified xsi:type="dcterms:W3CDTF">2026-07-18T05:24:20Z</dcterms:modified>
</cp:coreProperties>
</file>