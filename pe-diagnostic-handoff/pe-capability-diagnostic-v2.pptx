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Laoh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Your portfolio bought AI.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i="1" dirty="0">
                <a:solidFill>
                  <a:srgbClr val="9CC5A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P&amp;L can't see 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42062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FC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capability diagnostic for the engineering teams inside your portcos - who can actually use AI, what's blocking them, what to fix first.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5257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From the team that screens forward-deployed engineers for frontier AI labs and 3 vertical AI companies.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Pulkit Walia  ·  Rohit Jain  ·  laoh.ai  ·  San Francisco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· 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 impact has moved from story to diligence requirement.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25400">
            <a:solidFill>
              <a:srgbClr val="E8DF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9304" y="2980944"/>
            <a:ext cx="164592" cy="164592"/>
          </a:xfrm>
          <a:prstGeom prst="ellipse">
            <a:avLst/>
          </a:prstGeom>
          <a:solidFill>
            <a:srgbClr val="7A756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56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264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copilot licenses roll 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12464" y="2980944"/>
            <a:ext cx="164592" cy="164592"/>
          </a:xfrm>
          <a:prstGeom prst="ellipse">
            <a:avLst/>
          </a:prstGeom>
          <a:solidFill>
            <a:srgbClr val="7A756A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56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3264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pilots everywhere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35624" y="2980944"/>
            <a:ext cx="164592" cy="164592"/>
          </a:xfrm>
          <a:prstGeom prst="ellipse">
            <a:avLst/>
          </a:prstGeom>
          <a:solidFill>
            <a:srgbClr val="7A756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756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32644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‘AI-native’ hires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90304" y="2889504"/>
            <a:ext cx="347472" cy="347472"/>
          </a:xfrm>
          <a:prstGeom prst="ellipse">
            <a:avLst/>
          </a:prstGeom>
          <a:solidFill>
            <a:srgbClr val="2F4A38"/>
          </a:solidFill>
          <a:ln w="25400">
            <a:solidFill>
              <a:srgbClr val="FAF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58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2026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7863840" y="3319272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76200" dist="25400" dir="5400000">
              <a:srgbClr val="1C1A16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92440" y="3429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buyers ask for measured impact in diligence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PwC, 2026 deals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Most portfolios remain at Deploy - licenses out, operating model unchanged (BCG, 2026).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44068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Vista built an in-house Agentic AI Factory. Mega-funds hire AI operating partners (Korn Ferry). </a:t>
            </a:r>
            <a:pPr indent="0" marL="0">
              <a:buNone/>
            </a:pPr>
            <a:r>
              <a:rPr lang="en-US" sz="13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Mid-market firms rent the playbook.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· THE LEVELS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Engineering teams sit at six distinct levels of AI capability.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834640" y="1444752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27402F"/>
          </a:solidFill>
          <a:ln/>
        </p:spPr>
      </p:sp>
      <p:sp>
        <p:nvSpPr>
          <p:cNvPr id="5" name="Text 3"/>
          <p:cNvSpPr/>
          <p:nvPr/>
        </p:nvSpPr>
        <p:spPr>
          <a:xfrm>
            <a:off x="2944368" y="144475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software factory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00600" y="1444752"/>
            <a:ext cx="6839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Builds the system that builds software - spec pipelines, agent fleets, a held-out test library the agents never see, so they can't game the checks. No human reads the code; humans approve outcomes.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2176272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2F4A38"/>
          </a:solidFill>
          <a:ln/>
        </p:spPr>
      </p:sp>
      <p:sp>
        <p:nvSpPr>
          <p:cNvPr id="8" name="Text 6"/>
          <p:cNvSpPr/>
          <p:nvPr/>
        </p:nvSpPr>
        <p:spPr>
          <a:xfrm>
            <a:off x="2487168" y="217627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L4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spec-driven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2176272"/>
            <a:ext cx="7296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Writes the full spec before any code exists - what to build, what “correct” means, the tests that prove it. Agents then build for hours unsupervised; the person ships on passing evidence, sampling the code rather than reading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2907792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8FB89B"/>
          </a:solidFill>
          <a:ln/>
        </p:spPr>
      </p:sp>
      <p:sp>
        <p:nvSpPr>
          <p:cNvPr id="11" name="Text 9"/>
          <p:cNvSpPr/>
          <p:nvPr/>
        </p:nvSpPr>
        <p:spPr>
          <a:xfrm>
            <a:off x="2029968" y="290779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L3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agent 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2907792"/>
            <a:ext cx="7754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Runs 2-3 agents at once on separate tasks in parallel copies of the codebase. Reviews each agent's change summary instead of writing code. Keeps a written project brief so agents start with full context.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3639312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9CC5A5"/>
          </a:solidFill>
          <a:ln/>
        </p:spPr>
      </p:sp>
      <p:sp>
        <p:nvSpPr>
          <p:cNvPr id="14" name="Text 12"/>
          <p:cNvSpPr/>
          <p:nvPr/>
        </p:nvSpPr>
        <p:spPr>
          <a:xfrm>
            <a:off x="1572768" y="3639312"/>
            <a:ext cx="1600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pair programming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666744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AI agent writes whole files; the person still reads and corrects every line before anything ships. Feels very fast.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4142232"/>
            <a:ext cx="8211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trap - it feels like mastery, and most self-described AI-native engineers are here (Dan Shapiro, The Five Levels, 2026)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4645152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E8DFC9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64515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L1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task delegation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4645152"/>
            <a:ext cx="8668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Asks AI for small pieces - a test, a snippet - and pastes them in by hand.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1783080" cy="658368"/>
          </a:xfrm>
          <a:prstGeom prst="roundRect">
            <a:avLst>
              <a:gd name="adj" fmla="val 8333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37667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L0 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manual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5376672"/>
            <a:ext cx="9125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Types every line themselves; AI is a search box.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level is claimed in interviews. Each one is verifiable only by watching the work - which is the diagnostic.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· THE ECONOMICS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team at L4 ships several times the output of the same team at L2.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2286000" y="1481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GOES IN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394960" y="1481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HAPPENS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COMES OUT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967740000" dist="322580000" dir="324000000000">
              <a:srgbClr val="1C1A16">
                <a:alpha val="8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28800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0" y="192024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task per person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1920240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person and AI write together; every line human-read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1920240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feature at a time; output scales only with headcount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2290298000000" dist="4096766000000" dir="19440000000000000">
              <a:srgbClr val="1C1A16">
                <a:alpha val="800000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944368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86000" y="303580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three tasks per person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035808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three agents build in parallel; person reviews change summaries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035808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several workstreams move at once; throughput per head multiplies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59936"/>
            <a:ext cx="11091672" cy="987552"/>
          </a:xfrm>
          <a:prstGeom prst="roundRect">
            <a:avLst>
              <a:gd name="adj" fmla="val 9259"/>
            </a:avLst>
          </a:prstGeom>
          <a:solidFill>
            <a:srgbClr val="2F4A38"/>
          </a:solidFill>
          <a:ln/>
          <a:effectLst>
            <a:outerShdw sx="100000" sy="100000" kx="0" ky="0" algn="bl" rotWithShape="0" blurRad="156086784600000000" dist="52028928200000000" dir="1.1664e+21">
              <a:srgbClr val="1C1A16">
                <a:alpha val="80000000000000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59936"/>
            <a:ext cx="1005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286000" y="4151376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written spec, tests defined upfront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4151376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agents build unsupervised for hours; an independent test suite verifies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151376"/>
            <a:ext cx="2816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shipped software, proven by passing tests; cycle time collapses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4924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 runs in production today.  </a:t>
            </a:r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StrongDM's software factory turns specs into verified software with no human reading code, at ~$1k/day/engineer in tokens. A lighthouse for where this goes.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Capacity per head and cycle time are the lines a value-creation plan is priced 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· THE MEASUREMENT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Developers misjudge their own AI productivity by about 40 points.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8FB89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+20%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51560" y="3749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much faster developers believed AI made them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-19%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6537960" y="3749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much slower they actually were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9904" y="2103120"/>
            <a:ext cx="0" cy="2103120"/>
          </a:xfrm>
          <a:prstGeom prst="line">
            <a:avLst/>
          </a:prstGeom>
          <a:noFill/>
          <a:ln w="19050">
            <a:solidFill>
              <a:srgbClr val="E8DF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Randomized trial, 246 real tasks (METR, 2025)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53492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Every adoption survey in your portfolio carries this same gap. Placing people on the ladder requires watching them work.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· HOW WE MEASURE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 measure capability by observing days of real work.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223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.98230216442e+21" dist="660767388140000000000" dir="6.9984e+25">
              <a:srgbClr val="1C1A16">
                <a:alpha val="8e+2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11096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28216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Observability agents go onto laptops and repos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Announced and approved. A few days. Zero engineer hours lost.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7223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5175237488134e+25" dist="8.391745829378e+24" dir="4.19904e+30">
              <a:srgbClr val="1C1A16">
                <a:alpha val="8e+2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209544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2095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026664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record how work happens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447288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tasks go to agents, how much agent output gets hand-corrected, whether specs and project briefs exist, how results get verified.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722376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3.197255160993018e+29" dist="1.0657517203310059e+29" dir="2.519424e+35">
              <a:srgbClr val="1C1A16">
                <a:alpha val="8e+3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507992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5079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325112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score each person against the level definitions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level - plus the observed evidence behind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547872" cy="3749040"/>
          </a:xfrm>
          <a:prstGeom prst="roundRect">
            <a:avLst>
              <a:gd name="adj" fmla="val 2577"/>
            </a:avLst>
          </a:prstGeom>
          <a:solidFill>
            <a:srgbClr val="2F4A38"/>
          </a:solidFill>
          <a:ln/>
          <a:effectLst>
            <a:outerShdw sx="100000" sy="100000" kx="0" ky="0" algn="bl" rotWithShape="0" blurRad="4.0605140544611325e+33" dist="1.3535046848203775e+33" dir="1.5116544e+40">
              <a:srgbClr val="1C1A16">
                <a:alpha val="8e+3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CALIBRATION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23317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role-matched live simulation calibrates every score.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instrument we use to screen forward-deployed engineers for frontier labs.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66928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Workflow signals only - code never leaves the portco's environment  ·  reports go to the person and the CEO  ·  one 30-min security review with the portco CTO is the full approval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· WHAT YOU GET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Every person's level comes with the evidence behind it.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01600" dist="38100" dir="5400000">
              <a:srgbClr val="1C1A1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27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A. Mehta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112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Integrations engineer · Portco A · assessed 12 Jun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21424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2F4A38"/>
          </a:solidFill>
          <a:ln w="12700">
            <a:solidFill>
              <a:srgbClr val="2F4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1424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34656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7888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1719072"/>
            <a:ext cx="621792" cy="457200"/>
          </a:xfrm>
          <a:prstGeom prst="roundRect">
            <a:avLst>
              <a:gd name="adj" fmla="val 12000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719072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operates at L2</a:t>
            </a:r>
            <a:pPr indent="0" marL="0">
              <a:buNone/>
            </a:pPr>
            <a:r>
              <a:rPr lang="en-US" sz="11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- pairs with AI, still reviews every 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SCORED DIMENSIONS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29260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Delegation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06040" y="2976372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2976372"/>
            <a:ext cx="1700784" cy="182880"/>
          </a:xfrm>
          <a:prstGeom prst="roundRect">
            <a:avLst>
              <a:gd name="adj" fmla="val 25000"/>
            </a:avLst>
          </a:prstGeom>
          <a:solidFill>
            <a:srgbClr val="2F4A38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2926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3/5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3467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Spec quality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06040" y="3396996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3396996"/>
            <a:ext cx="1133856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33467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2/5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4400" y="37673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06040" y="3817620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3817620"/>
            <a:ext cx="566928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37673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1/5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4400" y="4187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606040" y="4238244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4238244"/>
            <a:ext cx="1133856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36" name="Text 34"/>
          <p:cNvSpPr/>
          <p:nvPr/>
        </p:nvSpPr>
        <p:spPr>
          <a:xfrm>
            <a:off x="5532120" y="4187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2/5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14400" y="46085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06040" y="4658868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4658868"/>
            <a:ext cx="566928" cy="182880"/>
          </a:xfrm>
          <a:prstGeom prst="roundRect">
            <a:avLst>
              <a:gd name="adj" fmla="val 25000"/>
            </a:avLst>
          </a:prstGeom>
          <a:solidFill>
            <a:srgbClr val="8FB89B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46085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1/5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14400" y="50292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Judgment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606040" y="5079492"/>
            <a:ext cx="2834640" cy="182880"/>
          </a:xfrm>
          <a:prstGeom prst="roundRect">
            <a:avLst>
              <a:gd name="adj" fmla="val 25000"/>
            </a:avLst>
          </a:prstGeom>
          <a:solidFill>
            <a:srgbClr val="F7F3E9"/>
          </a:solidFill>
          <a:ln w="9525">
            <a:solidFill>
              <a:srgbClr val="E8DFC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6040" y="5079492"/>
            <a:ext cx="2267712" cy="182880"/>
          </a:xfrm>
          <a:prstGeom prst="roundRect">
            <a:avLst>
              <a:gd name="adj" fmla="val 25000"/>
            </a:avLst>
          </a:prstGeom>
          <a:solidFill>
            <a:srgbClr val="2F4A38"/>
          </a:solidFill>
          <a:ln/>
        </p:spPr>
      </p:sp>
      <p:sp>
        <p:nvSpPr>
          <p:cNvPr id="44" name="Text 42"/>
          <p:cNvSpPr/>
          <p:nvPr/>
        </p:nvSpPr>
        <p:spPr>
          <a:xfrm>
            <a:off x="5532120" y="5029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4/5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2084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SAW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2926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“hand-edited 40% of the agent's output”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720840" y="36118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“ran the code once and called it verified”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6720840" y="4297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“knew exactly when not to use the agent - strongest signal”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914400" y="5440680"/>
            <a:ext cx="10332720" cy="475488"/>
          </a:xfrm>
          <a:prstGeom prst="roundRect">
            <a:avLst>
              <a:gd name="adj" fmla="val 15385"/>
            </a:avLst>
          </a:prstGeom>
          <a:solidFill>
            <a:srgbClr val="9CC5A5">
              <a:alpha val="4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143000" y="5440680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path to L3:  </a:t>
            </a:r>
            <a:pPr indent="0" marL="0">
              <a:buNone/>
            </a:pPr>
            <a:r>
              <a:rPr lang="en-US" sz="120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run parallel sessions  ·  stop hand-editing output  ·  build the repo context file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2636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growth map, never a report card.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· THE PATH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Three moves take a portco from baseline to proven capability gains.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2F4A38"/>
          </a:solidFill>
          <a:ln/>
          <a:effectLst>
            <a:outerShdw sx="100000" sy="100000" kx="0" ky="0" algn="bl" rotWithShape="0" blurRad="5.156852849165638e+37" dist="1.7189509497218795e+37" dir="9.069926400000001e+44">
              <a:srgbClr val="1C1A16">
                <a:alpha val="8e+4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530352" cy="530352"/>
          </a:xfrm>
          <a:prstGeom prst="ellipse">
            <a:avLst/>
          </a:prstGeom>
          <a:solidFill>
            <a:srgbClr val="FAF7F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Measure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2-3 weeks, one portco: capability map, readiness scorecard, sequenced 100-day plan.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73736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6.549203118440361e+41" dist="2.183067706146787e+41" dir="5.44195584e+49">
              <a:srgbClr val="1C1A16">
                <a:alpha val="8e+4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029968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Move the levels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12-week cohorts grouped by assessed level, practiced on real tickets.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75904" y="173736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8.317487960419258e+45" dist="2.7724959868064195e+45" dir="3.2651735040000005e+54">
              <a:srgbClr val="1C1A16">
                <a:alpha val="8e+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68512" y="2029968"/>
            <a:ext cx="530352" cy="530352"/>
          </a:xfrm>
          <a:prstGeom prst="ellipse">
            <a:avLst/>
          </a:prstGeom>
          <a:solidFill>
            <a:srgbClr val="2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668512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68512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Prove it moved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668512" y="3291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Quarterly re-measure with telemetry on - movement in numbers your IC can read.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7F3E9"/>
          </a:solidFill>
          <a:ln w="12700">
            <a:solidFill>
              <a:srgbClr val="E8D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ILLUSTRATIVE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8680" y="484632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hand-corrected agent output ↓  +  agent-authored share ↑</a:t>
            </a:r>
            <a:pPr indent="0" marL="0">
              <a:buNone/>
            </a:pPr>
            <a:r>
              <a:rPr lang="en-US" sz="12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→    </a:t>
            </a:r>
            <a:pPr indent="0" marL="0">
              <a:buNone/>
            </a:pPr>
            <a:r>
              <a:rPr lang="en-US" sz="12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cycle time on comparable tickets ↓</a:t>
            </a:r>
            <a:pPr indent="0" marL="0">
              <a:buNone/>
            </a:pPr>
            <a:r>
              <a:rPr lang="en-US" sz="12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   →    </a:t>
            </a:r>
            <a:pPr indent="0" marL="0">
              <a:buNone/>
            </a:pPr>
            <a:r>
              <a:rPr lang="en-US" sz="125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capacity per head ↑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 ugly baseline seen now is pre-diligence on your terms.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· WHY 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C1A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We've watched AI deployment fail from the other side of the table.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.0563209709732457e+50" dist="3.5210699032441527e+49" dir="1.9591041024000004e+59">
              <a:srgbClr val="1C1A16">
                <a:alpha val="8e+58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Frontier labs deploy engineers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into companies like your portcos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5072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1.341527633136022e+54" dist="4.471758777120074e+53" dir="1.1754624614400003e+64">
              <a:srgbClr val="1C1A16">
                <a:alpha val="7.999999999999999e+6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Deployment lands; absorption doesn't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231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 no one deploying is paid to fix that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82712" y="2240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03920" y="173736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2F4A38"/>
          </a:solidFill>
          <a:ln/>
          <a:effectLst>
            <a:outerShdw sx="100000" sy="100000" kx="0" ky="0" algn="bl" rotWithShape="0" blurRad="1.7037400940827478e+58" dist="5.679133646942494e+57" dir="7.052774768640002e+68">
              <a:srgbClr val="1C1A16">
                <a:alpha val="7.999999999999999e+68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59952" y="1920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assess the absorbers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759952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instrument, pointed at your teams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screen FDEs for  </a:t>
            </a:r>
            <a:pPr algn="ctr" indent="0" marL="0">
              <a:buNone/>
            </a:pPr>
            <a:r>
              <a:rPr lang="en-US" sz="1500" b="1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ElevenLabs · Retell · +3 YC-backed AI cos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54480" y="4389120"/>
            <a:ext cx="4343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16374991948509e+62" dist="7.212499731616968e+61" dir="4.2316648611840007e+73">
              <a:srgbClr val="1C1A16">
                <a:alpha val="7.999999999999999e+7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Pulkit Walia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28800" y="5120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Built the engineering assessment and skilling system at Urban Company ($3B IPO), a tech-enabled trades marketplace.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389120"/>
            <a:ext cx="43434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8DFC9"/>
            </a:solidFill>
            <a:prstDash val="solid"/>
          </a:ln>
          <a:effectLst>
            <a:outerShdw sx="100000" sy="100000" kx="0" ky="0" algn="bl" rotWithShape="0" blurRad="2.747962397746064e+66" dist="9.15987465915355e+65" dir="2.5389989167104004e+78">
              <a:srgbClr val="1C1A16">
                <a:alpha val="7.999999999999998e+7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5720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F4A3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Rohit Jain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51206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A1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25,000+ engineers trained. Hundreds of big-tech interview loops run from the other side of the table.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671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5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Start with one portco - $1,000 a seat, results in three weeks.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27402F"/>
          </a:solidFill>
          <a:ln w="9525">
            <a:solidFill>
              <a:srgbClr val="8FB8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2-3 weeks, one portco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7706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level map by function, with evidence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25526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readiness scorecard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7398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sequenced 100-day plan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2245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dirty="0">
                <a:solidFill>
                  <a:srgbClr val="FAF7F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typical run: 30-40 seats, $30-40k, fund or portco budget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THEN, IF IT EARNS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2286000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9CC5A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860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portco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95160" y="3127248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8FB89B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1272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portfolio dashboard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3968496"/>
            <a:ext cx="4206240" cy="658368"/>
          </a:xfrm>
          <a:prstGeom prst="roundRect">
            <a:avLst>
              <a:gd name="adj" fmla="val 13889"/>
            </a:avLst>
          </a:prstGeom>
          <a:solidFill>
            <a:srgbClr val="FAF7F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4A3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upskilling / deal diligence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8646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Start where engineering cost is the thesis.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23036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AF7F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“For $40k and three weeks we get a measured answer on whether [portco]'s AI spend is building capability or shelfware - before a buyer's diligence team asks.”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C5A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30 mins to scope it. We'll bring the instrument.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89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Pulkit Walia  ·  laoh.ai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2026-07-16T06:31:51Z</dcterms:created>
  <dcterms:modified xsi:type="dcterms:W3CDTF">2026-07-16T06:31:51Z</dcterms:modified>
</cp:coreProperties>
</file>